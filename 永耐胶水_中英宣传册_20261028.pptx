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8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zh-CN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这是永耐胶水的中英宣传册。和贝之然用同一套版式，讲的是水性胶粘剂：自有生产线、年产能一万余吨、包装从二十公斤到一千二百公斤。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东莞市永耐环保科技有限公司，专注水性胶粘剂。四个关键数字：四千平方米厂房、一万余吨年产能、九个产品系列、二十公斤到一千二百公斤的包装跨度。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回答「你们是自己生产还是转手卖」。自有厂房四千平方米、十余台生产设备、年产一万余吨、日产三十余吨；流程从原料检验、投料反应、研磨过滤、灌装封口到入库检验，五道环节都在厂内完成，所以返单快、批次稳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六条优势：型号全覆盖、按木种选型、固含量分档、耐水可验证、自有产线、包装灵活。核心逻辑是——胶水看不见效果，所以我们把选型标准、验收口径和样品都放在前面。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三张原件：公司商标注册证、CNAS 检测报告、ISO 三体认证。可以放大核对编号，也可以按客户要求另行提供盖章件。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集团已授权七项发明专利。研发能力是共用的：无机材料上的专利积累，同样支撑永耐水性胶粘剂的配方开发。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集团做过的一些真实项目：肇庆端州区波海蓝湾会所、梅州大埔茶阳镇茅坪文富村。讲这一页的目的是让客户知道我们熟悉工地与工厂的施工条件。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厦门集美侨英街道项目：旧墙修补、抗裂防水砂浆、无机底固、两遍喷涂。这些工序经验直接对应胶水的现场应用逻辑。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深圳宝安溪头工业园：旧墙直接施工，先做样板墙确认颜色与质感，再批量。胶水也是一样，先打样再上产线。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安溪官岭外墙与广州宾馆内墙，一个是外墙翻新、一个是酒店内墙改造。工况不同，选型逻辑一致：先看基材与工况，再定胶种与型号。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5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916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zh-CN" dirty="0"/>
              <a:t>内墙成品效果：哑光、细腻，没有明显反光和接缝；陶瓷级硬度，日常擦拭不掉粉。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白乳胶三支：SL-101 做家具组装与阻力胶，十二块一公斤；SL-286 做压板贴纸，八块；SL-360 兼顾四十五度组装，十三块。都是水性单组分。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拼板胶按木种分：普通木与硬木用 SL-111，高端木用 SL-112 或 SL-113，松木软木用 SL-201。四款都是双面涂胶、加压保压；可按客户的验收标准寄样先试，比如六十五度水煮三小时不开裂。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黄胶两支在售，差别在固含量：SL-740 是百分之四十五到五十，六块八一公斤；SL-750 是五十到五十五，十五块。含胶量越高价格越高，客户可以按预算选档。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AB 胶按节拍选：两小时进下道工序用 SL-902，四小时用 SL-901，都是两公斤一组。石材粘接用青红胶 SL-518。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贴面与辅料：SL-128 热压贴木皮，十五块；热熔胶粒 SL-4350 高温、SL-4360 中温，都是二十块；PH-7 是进口架桥剂，时价十五到四十，报价前要确认当期价格。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施胶三种方式：手工刷胶灵活但用胶量偏高，滚筒刮板适合平面板材与中等批量，机械辊涂最省胶但投入高。胶合强度对涂胶均匀性最敏感，建议用称重法抽检。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定制有三类：包装、标签与配方。从二十公斤桶到一千二百公斤吨桶，可以做中英文包装和客户品牌桶，配方也能按基材调整。标准型号按目录价直接下单。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寄样流程四步：一，你告诉我们基材、涂胶方式与验收标准；二，我们寄样给你；三，你用你的设备与基材试胶；四，合格了再谈批量。样品由我们寄出，不需要你先寄基材。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政策方向很清楚：从溶剂型转向水性。十四五规划、绿色建材方案、GB 55037 防火规范、GB 50325 室内环境标准，都在推这件事。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VOC 是硬约束。室内环境标准持续收紧，治理攻坚方案鼓励低 VOC 替代，产业目录把环境友好型产品列入鼓励类。对家具厂来说，水性胶与可核查的检测报告正在成为验厂常规项。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推广矩阵：国内从官网、百度、阿里、淘宝京东到抖音小红书，跨境从谷歌、亚马逊、阿里国际到领英与 WhatsApp。图文与视频双线发布。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联系我们：东莞市永耐环保科技有限公司，罗世伟，电话和微信都是 13723757790，地址在东莞市大岭山镇莞长路杨屋段 731 号越秀大厦。下一步很简单，把基材和验收标准告诉我们，我们寄样给你。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yongnai_brochu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altLang="en-US" smtClean="0"/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CN"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lang="zh-CN"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CN"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CN"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CN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CN"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CN"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CN" sz="9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CN" sz="8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CN"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jpe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orange"/>
          <p:cNvSpPr/>
          <p:nvPr/>
        </p:nvSpPr>
        <p:spPr>
          <a:xfrm>
            <a:off x="7429500" y="0"/>
            <a:ext cx="4762500" cy="6858000"/>
          </a:xfrm>
          <a:custGeom>
            <a:avLst/>
            <a:gdLst/>
            <a:ahLst/>
            <a:cxnLst/>
            <a:rect l="l" t="t" r="r" b="b"/>
            <a:pathLst>
              <a:path w="4762500" h="6858000">
                <a:moveTo>
                  <a:pt x="0" y="0"/>
                </a:moveTo>
                <a:lnTo>
                  <a:pt x="4762500" y="0"/>
                </a:lnTo>
                <a:lnTo>
                  <a:pt x="476250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" name="cover-slate"/>
          <p:cNvSpPr/>
          <p:nvPr/>
        </p:nvSpPr>
        <p:spPr>
          <a:xfrm>
            <a:off x="6781800" y="0"/>
            <a:ext cx="2838450" cy="6858000"/>
          </a:xfrm>
          <a:custGeom>
            <a:avLst/>
            <a:gdLst/>
            <a:ahLst/>
            <a:cxnLst/>
            <a:rect l="l" t="t" r="r" b="b"/>
            <a:pathLst>
              <a:path w="2838450" h="6858000">
                <a:moveTo>
                  <a:pt x="0" y="0"/>
                </a:moveTo>
                <a:lnTo>
                  <a:pt x="647700" y="0"/>
                </a:lnTo>
                <a:lnTo>
                  <a:pt x="28384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cover-light"/>
          <p:cNvSpPr/>
          <p:nvPr/>
        </p:nvSpPr>
        <p:spPr>
          <a:xfrm>
            <a:off x="6248400" y="0"/>
            <a:ext cx="2381250" cy="6858000"/>
          </a:xfrm>
          <a:custGeom>
            <a:avLst/>
            <a:gdLst/>
            <a:ahLst/>
            <a:cxnLst/>
            <a:rect l="l" t="t" r="r" b="b"/>
            <a:pathLst>
              <a:path w="2381250" h="6858000">
                <a:moveTo>
                  <a:pt x="0" y="0"/>
                </a:moveTo>
                <a:lnTo>
                  <a:pt x="190500" y="0"/>
                </a:lnTo>
                <a:lnTo>
                  <a:pt x="2381250" y="6858000"/>
                </a:lnTo>
                <a:lnTo>
                  <a:pt x="2190750" y="685800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  <p:pic>
        <p:nvPicPr>
          <p:cNvPr id="5" name="Imag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85388"/>
            <a:ext cx="1714500" cy="753249"/>
          </a:xfrm>
          <a:prstGeom prst="rect">
            <a:avLst/>
          </a:prstGeom>
        </p:spPr>
      </p:pic>
      <p:grpSp>
        <p:nvGrpSpPr>
          <p:cNvPr id="13" name="cover-title"/>
          <p:cNvGrpSpPr/>
          <p:nvPr/>
        </p:nvGrpSpPr>
        <p:grpSpPr>
          <a:xfrm>
            <a:off x="742950" y="2197100"/>
            <a:ext cx="4985258" cy="2948559"/>
            <a:chOff x="742950" y="2197100"/>
            <a:chExt cx="4985258" cy="2948559"/>
          </a:xfrm>
        </p:grpSpPr>
        <p:sp>
          <p:nvSpPr>
            <p:cNvPr id="6" name="TextBox 6"/>
            <p:cNvSpPr txBox="1"/>
            <p:nvPr/>
          </p:nvSpPr>
          <p:spPr>
            <a:xfrm>
              <a:off x="742950" y="2197100"/>
              <a:ext cx="294589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永耐胶水</a:t>
              </a:r>
              <a:endParaRPr lang="zh-CN" sz="5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3048000"/>
              <a:ext cx="30906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spc="4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YONGNAI ADHESIVE</a:t>
              </a:r>
              <a:endParaRPr lang="en-US" sz="1800" spc="4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3632200"/>
              <a:ext cx="3204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水性环保胶粘剂 · 中英宣传册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904" y="3962400"/>
              <a:ext cx="3924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Adhesive · Chinese-English Brochure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62000" y="44005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4635500"/>
              <a:ext cx="49387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自有生产线　·　年产能 10,000+ 吨　·　20–1200 kg 全规格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4940300"/>
              <a:ext cx="49715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In-house production line · 10,000+ tons per year · 20–1200 kg packaging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cover-entity"/>
          <p:cNvGrpSpPr/>
          <p:nvPr/>
        </p:nvGrpSpPr>
        <p:grpSpPr>
          <a:xfrm>
            <a:off x="754380" y="5556250"/>
            <a:ext cx="3717107" cy="503809"/>
            <a:chOff x="754380" y="5556250"/>
            <a:chExt cx="3717107" cy="503809"/>
          </a:xfrm>
        </p:grpSpPr>
        <p:sp>
          <p:nvSpPr>
            <p:cNvPr id="14" name="TextBox 14"/>
            <p:cNvSpPr txBox="1"/>
            <p:nvPr/>
          </p:nvSpPr>
          <p:spPr>
            <a:xfrm>
              <a:off x="754380" y="555625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东莞市永耐环保科技有限公司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5854700"/>
              <a:ext cx="37148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Dongguan Yongnai Environmental Technology Co., Ltd.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7" name="Rectangle 1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048585" name="TextBox 6"/>
          <p:cNvSpPr txBox="1"/>
          <p:nvPr/>
        </p:nvSpPr>
        <p:spPr>
          <a:xfrm>
            <a:off x="905256" y="1460500"/>
            <a:ext cx="2057400" cy="266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一次接触　永不分离</a:t>
            </a:r>
            <a:endParaRPr lang="zh-CN" sz="1800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48586" name="TextBox 7"/>
          <p:cNvSpPr txBox="1"/>
          <p:nvPr/>
        </p:nvSpPr>
        <p:spPr>
          <a:xfrm>
            <a:off x="908304" y="1790700"/>
            <a:ext cx="2960241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en-US" sz="1200" spc="1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ONCE CONTACT, NEVER SEPERATE</a:t>
            </a:r>
            <a:endParaRPr lang="en-US" sz="1200" spc="1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公司简介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2661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Profile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3" name="profile-text"/>
          <p:cNvGrpSpPr/>
          <p:nvPr/>
        </p:nvGrpSpPr>
        <p:grpSpPr>
          <a:xfrm>
            <a:off x="754380" y="1866900"/>
            <a:ext cx="6484620" cy="3085084"/>
            <a:chOff x="754380" y="1866900"/>
            <a:chExt cx="6484620" cy="3085084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1866900"/>
              <a:ext cx="515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东莞市永耐环保科技有限公司专注水性胶粘剂的生产与销售，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自有厂房与生产线，为家具厂、板材厂、木门厂供货。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2536825"/>
              <a:ext cx="63952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Dongguan Yongnai focuses on water-based adhesives, with its own plant and production line.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762000" y="3048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4380" y="3200400"/>
              <a:ext cx="5730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产品覆盖白乳胶、拼板胶、黄胶、AB 胶、木皮胶、热熔胶、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青红胶、压板胶与固化剂九个系列，二十公斤到一千二百公斤桶装。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3828415"/>
              <a:ext cx="4637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Nine series covering assembly, lamination, pressing and veneering.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4076700"/>
              <a:ext cx="5158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只做水性体系，非易燃易爆；可按客户基材与验收标准寄样，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样块确认后再谈批量。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4746625"/>
              <a:ext cx="6008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only, non-flammable; free samples against your substrate and standard.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7" name="Rectangle 2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32" name="图片 31" descr="明亮现代的环保科技公司办公室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1825" y="302895"/>
            <a:ext cx="4290695" cy="3218180"/>
          </a:xfrm>
          <a:prstGeom prst="rect">
            <a:avLst/>
          </a:prstGeom>
        </p:spPr>
      </p:pic>
      <p:pic>
        <p:nvPicPr>
          <p:cNvPr id="33" name="图片 32" descr="O1CN014JOhy12FD46y6kePd_!!2216981678845-0-cib.jpg_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565" y="724535"/>
            <a:ext cx="4755515" cy="356679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885" y="1978660"/>
            <a:ext cx="5205095" cy="39039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453640" cy="892175"/>
            <a:chOff x="746760" y="622300"/>
            <a:chExt cx="24536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生产线与产能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0959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Production Line &amp; Capacity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2" name="capacity-figures"/>
          <p:cNvGrpSpPr/>
          <p:nvPr/>
        </p:nvGrpSpPr>
        <p:grpSpPr>
          <a:xfrm>
            <a:off x="609600" y="1714500"/>
            <a:ext cx="10972800" cy="1524000"/>
            <a:chOff x="609600" y="1714500"/>
            <a:chExt cx="10972800" cy="1524000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1060" y="1955800"/>
              <a:ext cx="119662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4,000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482850"/>
              <a:ext cx="8951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㎡ 自有厂房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0966" y="2787650"/>
              <a:ext cx="701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Own plant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40995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3661410" y="19558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9792" y="2482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台生产设备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671316" y="2787650"/>
              <a:ext cx="11528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Production units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21030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61760" y="1955800"/>
              <a:ext cx="166308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10,000+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70142" y="2482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吨年产量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71666" y="2787650"/>
              <a:ext cx="9554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Tons per year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010650" y="1714500"/>
              <a:ext cx="257175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62110" y="1955800"/>
              <a:ext cx="73016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30+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70492" y="24828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吨日产量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2016" y="2787650"/>
              <a:ext cx="877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Tons per day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flow-steps"/>
          <p:cNvGrpSpPr/>
          <p:nvPr/>
        </p:nvGrpSpPr>
        <p:grpSpPr>
          <a:xfrm>
            <a:off x="752856" y="3810000"/>
            <a:ext cx="10677144" cy="2421509"/>
            <a:chOff x="752856" y="3810000"/>
            <a:chExt cx="10677144" cy="2421509"/>
          </a:xfrm>
        </p:grpSpPr>
        <p:sp>
          <p:nvSpPr>
            <p:cNvPr id="23" name="TextBox 23"/>
            <p:cNvSpPr txBox="1"/>
            <p:nvPr/>
          </p:nvSpPr>
          <p:spPr>
            <a:xfrm>
              <a:off x="755904" y="3810000"/>
              <a:ext cx="23434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生产流程　Production process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2000" y="4076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2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3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原料检验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6666" y="4635500"/>
              <a:ext cx="13435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Incoming inspection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483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2887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投料反应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2166" y="4635500"/>
              <a:ext cx="11886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Mixing &amp; reaction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43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84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研磨过滤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47666" y="4635500"/>
              <a:ext cx="13225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Grinding &amp; filtering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393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4797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灌装封口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43166" y="4635500"/>
              <a:ext cx="10537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Filling &amp; sealing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134856" y="4267200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75292" y="43116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入库检验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8666" y="4635500"/>
              <a:ext cx="1081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Final inspection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762000" y="51435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4380" y="5257800"/>
              <a:ext cx="57302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自有产线与质检环节，让返单更快、批次更稳：常规型号常备库存，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定制订单按排产交付。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6666" y="6026150"/>
              <a:ext cx="58602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In-house production and inspection keep repeat orders fast and batches consistent.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4" name="Rectangle 4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453640" cy="892175"/>
            <a:chOff x="746760" y="622300"/>
            <a:chExt cx="24536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产品六大优势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861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Six Product Advantages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9" name="advantage-list"/>
          <p:cNvGrpSpPr/>
          <p:nvPr>
            <p:custDataLst>
              <p:tags r:id="rId1"/>
            </p:custDataLst>
          </p:nvPr>
        </p:nvGrpSpPr>
        <p:grpSpPr>
          <a:xfrm>
            <a:off x="752856" y="1828800"/>
            <a:ext cx="10677144" cy="4174109"/>
            <a:chOff x="752856" y="1828800"/>
            <a:chExt cx="10677144" cy="4174109"/>
          </a:xfrm>
        </p:grpSpPr>
        <p:sp>
          <p:nvSpPr>
            <p:cNvPr id="6" name="TextBox 6"/>
            <p:cNvSpPr txBox="1"/>
            <p:nvPr>
              <p:custDataLst>
                <p:tags r:id="rId2"/>
              </p:custDataLst>
            </p:nvPr>
          </p:nvSpPr>
          <p:spPr>
            <a:xfrm>
              <a:off x="752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>
              <p:custDataLst>
                <p:tags r:id="rId3"/>
              </p:custDataLst>
            </p:nvPr>
          </p:nvSpPr>
          <p:spPr>
            <a:xfrm>
              <a:off x="1192530" y="18605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型号全覆盖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>
              <p:custDataLst>
                <p:tags r:id="rId4"/>
              </p:custDataLst>
            </p:nvPr>
          </p:nvSpPr>
          <p:spPr>
            <a:xfrm>
              <a:off x="1194816" y="2159000"/>
              <a:ext cx="39684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九个系列、十七个在售型号，组装、拼板、压板、贴面一次配齐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>
              <p:custDataLst>
                <p:tags r:id="rId5"/>
              </p:custDataLst>
            </p:nvPr>
          </p:nvSpPr>
          <p:spPr>
            <a:xfrm>
              <a:off x="752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>
              <p:custDataLst>
                <p:tags r:id="rId6"/>
              </p:custDataLst>
            </p:nvPr>
          </p:nvSpPr>
          <p:spPr>
            <a:xfrm>
              <a:off x="1192530" y="25844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按木种选型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>
              <p:custDataLst>
                <p:tags r:id="rId7"/>
              </p:custDataLst>
            </p:nvPr>
          </p:nvSpPr>
          <p:spPr>
            <a:xfrm>
              <a:off x="1194816" y="28829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普通木、高端木、松木软木各有对应型号，不用试错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8"/>
              </p:custDataLst>
            </p:nvPr>
          </p:nvSpPr>
          <p:spPr>
            <a:xfrm>
              <a:off x="752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9"/>
              </p:custDataLst>
            </p:nvPr>
          </p:nvSpPr>
          <p:spPr>
            <a:xfrm>
              <a:off x="1192530" y="33083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固含量分档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>
              <p:custDataLst>
                <p:tags r:id="rId10"/>
              </p:custDataLst>
            </p:nvPr>
          </p:nvSpPr>
          <p:spPr>
            <a:xfrm>
              <a:off x="1194816" y="3606800"/>
              <a:ext cx="337312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黄胶 45%~50% 与 50%~5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% 两档，按预算与含胶量选择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>
              <p:custDataLst>
                <p:tags r:id="rId11"/>
              </p:custDataLst>
            </p:nvPr>
          </p:nvSpPr>
          <p:spPr>
            <a:xfrm>
              <a:off x="6086856" y="18288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>
              <p:custDataLst>
                <p:tags r:id="rId12"/>
              </p:custDataLst>
            </p:nvPr>
          </p:nvSpPr>
          <p:spPr>
            <a:xfrm>
              <a:off x="6526530" y="1860550"/>
              <a:ext cx="952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质检可验证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>
              <p:custDataLst>
                <p:tags r:id="rId13"/>
              </p:custDataLst>
            </p:nvPr>
          </p:nvSpPr>
          <p:spPr>
            <a:xfrm>
              <a:off x="6528816" y="2159000"/>
              <a:ext cx="28942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 65℃ 水煮 3 小时不开裂的验收口径寄样验证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4"/>
              </p:custDataLst>
            </p:nvPr>
          </p:nvSpPr>
          <p:spPr>
            <a:xfrm>
              <a:off x="6086856" y="25527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5"/>
              </p:custDataLst>
            </p:nvPr>
          </p:nvSpPr>
          <p:spPr>
            <a:xfrm>
              <a:off x="6526530" y="25844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自有产线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>
              <p:custDataLst>
                <p:tags r:id="rId16"/>
              </p:custDataLst>
            </p:nvPr>
          </p:nvSpPr>
          <p:spPr>
            <a:xfrm>
              <a:off x="6528816" y="2882900"/>
              <a:ext cx="334137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4,000 ㎡ 厂房、年产一万余吨，返单快、批次稳、库存足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>
              <p:custDataLst>
                <p:tags r:id="rId17"/>
              </p:custDataLst>
            </p:nvPr>
          </p:nvSpPr>
          <p:spPr>
            <a:xfrm>
              <a:off x="6086856" y="3276600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>
              <p:custDataLst>
                <p:tags r:id="rId18"/>
              </p:custDataLst>
            </p:nvPr>
          </p:nvSpPr>
          <p:spPr>
            <a:xfrm>
              <a:off x="6526530" y="33083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包装灵活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9"/>
              </p:custDataLst>
            </p:nvPr>
          </p:nvSpPr>
          <p:spPr>
            <a:xfrm>
              <a:off x="6528816" y="3606800"/>
              <a:ext cx="3466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25 / 50 / 220 / 1200 kg 桶装，可做中英文与贴牌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62000" y="4152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380" y="4298950"/>
              <a:ext cx="6682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胶水是看不见效果的产品，所以我们把选型标准、验收口径与样品都放在前面：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先用你的基材试，再谈价格与批量。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6666" y="5073650"/>
              <a:ext cx="7294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Adhesive performance is invisible, so we lead with selection criteria, acceptance standards and samples.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5904" y="5524500"/>
              <a:ext cx="37277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水性体系，非易燃易爆；可按需提供产品检测报告。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6666" y="5797550"/>
              <a:ext cx="47296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and non-flammable; test reports available on request.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0" name="Rectangle 3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权威认证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750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Company Qualification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5" name="cert-group"/>
          <p:cNvGrpSpPr/>
          <p:nvPr/>
        </p:nvGrpSpPr>
        <p:grpSpPr>
          <a:xfrm>
            <a:off x="798449" y="1752600"/>
            <a:ext cx="10201035" cy="4631309"/>
            <a:chOff x="755904" y="1752600"/>
            <a:chExt cx="10201035" cy="463130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38554" y="1752600"/>
              <a:ext cx="2704393" cy="409575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55904" y="594360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公司商标注册证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6178550"/>
              <a:ext cx="1652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Trademark Registration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76750" y="1780674"/>
              <a:ext cx="2857500" cy="4039603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4470654" y="5943600"/>
              <a:ext cx="1085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CNAS 检测报告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71416" y="6178550"/>
              <a:ext cx="1212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CNAS Test Report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83562" y="1752600"/>
              <a:ext cx="2673377" cy="409575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8185404" y="5943600"/>
              <a:ext cx="982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ISO 三体认证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86166" y="6178550"/>
              <a:ext cx="12004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ISO Certification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6" name="Rectangle 16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453640" cy="892175"/>
            <a:chOff x="746760" y="622300"/>
            <a:chExt cx="24536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公司发明专利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4113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Invention Patents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3" name="patent-list"/>
          <p:cNvGrpSpPr/>
          <p:nvPr/>
        </p:nvGrpSpPr>
        <p:grpSpPr>
          <a:xfrm>
            <a:off x="754380" y="1866900"/>
            <a:ext cx="6484620" cy="4034409"/>
            <a:chOff x="754380" y="1866900"/>
            <a:chExt cx="6484620" cy="4034409"/>
          </a:xfrm>
        </p:grpSpPr>
        <p:sp>
          <p:nvSpPr>
            <p:cNvPr id="6" name="TextBox 6"/>
            <p:cNvSpPr txBox="1"/>
            <p:nvPr/>
          </p:nvSpPr>
          <p:spPr>
            <a:xfrm>
              <a:off x="755904" y="1866900"/>
              <a:ext cx="4669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集团已获授权发明专利七项　Seven granted invention patents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23050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88542" y="233045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一种复式无机钙矾石内外墙涂料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27241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8542" y="27495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一种无机隧道防火涂料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31432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8542" y="31686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一种户外专用水性环保防火木器漆及其制备方法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4380" y="35623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88542" y="3587750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一种船舶水线区专用水性防腐蚀涂料及其制备方法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39814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05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8542" y="40068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无机贝壳粉末涂料涂层增强稳定促进剂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380" y="44005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06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88542" y="4425950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一种无机真石漆涂层增强稳定添加剂及制备方法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4380" y="481965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07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8542" y="48450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一种速溶环保腻子胶粉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762000" y="533400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666" y="5448300"/>
              <a:ext cx="5344668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研发能力是共用的：集团在无机材料上的专利积累，同样支撑永耐水性胶粘剂的配方开发。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group's patent portfolio also supports adhesive formulation work.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patent-cert"/>
          <p:cNvGrpSpPr/>
          <p:nvPr/>
        </p:nvGrpSpPr>
        <p:grpSpPr>
          <a:xfrm>
            <a:off x="8090916" y="1752600"/>
            <a:ext cx="3058734" cy="4517009"/>
            <a:chOff x="8090916" y="1752600"/>
            <a:chExt cx="3058734" cy="451700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186100" y="1752600"/>
              <a:ext cx="2963550" cy="4191000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8090916" y="6064250"/>
              <a:ext cx="22034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发明专利证书 Patent Certificate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7" name="Rectangle 2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4152881" cy="892175"/>
            <a:chOff x="746760" y="622300"/>
            <a:chExt cx="4152881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41528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应用案例 · 肇庆与梅州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3038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Cases · Zhaoqing &amp; Meizhou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8" name="case-photo"/>
          <p:cNvGrpSpPr/>
          <p:nvPr/>
        </p:nvGrpSpPr>
        <p:grpSpPr>
          <a:xfrm>
            <a:off x="756666" y="1752600"/>
            <a:ext cx="5148834" cy="4402709"/>
            <a:chOff x="756666" y="1752600"/>
            <a:chExt cx="5148834" cy="440270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rcRect t="15770" b="15771"/>
            <a:stretch>
              <a:fillRect/>
            </a:stretch>
          </p:blipFill>
          <p:spPr>
            <a:xfrm>
              <a:off x="762000" y="1752600"/>
              <a:ext cx="5143500" cy="40005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56666" y="594995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广东省肇庆市端州区波海蓝湾会所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ase-text"/>
          <p:cNvGrpSpPr/>
          <p:nvPr/>
        </p:nvGrpSpPr>
        <p:grpSpPr>
          <a:xfrm>
            <a:off x="6658356" y="1841500"/>
            <a:ext cx="4771644" cy="3342259"/>
            <a:chOff x="6658356" y="1841500"/>
            <a:chExt cx="4771644" cy="3342259"/>
          </a:xfrm>
        </p:grpSpPr>
        <p:sp>
          <p:nvSpPr>
            <p:cNvPr id="9" name="TextBox 9"/>
            <p:cNvSpPr txBox="1"/>
            <p:nvPr/>
          </p:nvSpPr>
          <p:spPr>
            <a:xfrm>
              <a:off x="6658356" y="184150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两个真实项目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62166" y="2178050"/>
              <a:ext cx="16408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 completed projects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667500" y="24574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9880" y="26797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肇庆市端州区波海蓝湾会所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2166" y="2997200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会所外墙整体翻新，米白色饰面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9880" y="35941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梅州市大埔县茶阳镇茅坪文富村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39116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村居外墙改造，旧墙直接施工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67500" y="44767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61404" y="468630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集团在内外墙材料上的工程经验，同样服务于胶水的现场应用：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4978400"/>
              <a:ext cx="42511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我们熟悉家具厂与工地的施工条件，知道哪些参数必须写进工艺卡。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0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3749021" cy="892175"/>
            <a:chOff x="746760" y="622300"/>
            <a:chExt cx="3749021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374902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应用案例 · 厦门集美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5379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Case · Jimei, Xiamen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7" name="case-text"/>
          <p:cNvGrpSpPr/>
          <p:nvPr/>
        </p:nvGrpSpPr>
        <p:grpSpPr>
          <a:xfrm>
            <a:off x="752856" y="1879600"/>
            <a:ext cx="4962144" cy="3875659"/>
            <a:chOff x="752856" y="1879600"/>
            <a:chExt cx="4962144" cy="3875659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8796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厦门市集美区侨英街道项目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2216150"/>
              <a:ext cx="33178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Qiaoying Street Project, Jimei District, Xiamen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Freeform 8"/>
            <p:cNvSpPr/>
            <p:nvPr/>
          </p:nvSpPr>
          <p:spPr>
            <a:xfrm>
              <a:off x="762000" y="25908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904" y="2819400"/>
              <a:ext cx="1810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项目类型　Project type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306070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街道沿线建筑立面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904" y="3600450"/>
              <a:ext cx="946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做法　Scope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3790950"/>
              <a:ext cx="312039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旧墙修补 → 抗裂防水砂浆 → 无机底固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两遍喷涂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904" y="4724400"/>
              <a:ext cx="9941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　Result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380" y="496570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整体色调统一，与街区风貌协调。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762000" y="56197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23366" y="5549900"/>
              <a:ext cx="16906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现场实拍　On-site photo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case-photo"/>
          <p:cNvGrpSpPr/>
          <p:nvPr/>
        </p:nvGrpSpPr>
        <p:grpSpPr>
          <a:xfrm>
            <a:off x="6281166" y="1905000"/>
            <a:ext cx="5148834" cy="4040759"/>
            <a:chOff x="6281166" y="1905000"/>
            <a:chExt cx="5148834" cy="4040759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rcRect l="234" r="234"/>
            <a:stretch>
              <a:fillRect/>
            </a:stretch>
          </p:blipFill>
          <p:spPr>
            <a:xfrm>
              <a:off x="6286500" y="1905000"/>
              <a:ext cx="5143500" cy="36195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6281166" y="57404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厦门集美侨英街道项目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1" name="Rectangle 2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08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3749021" cy="892175"/>
            <a:chOff x="746760" y="622300"/>
            <a:chExt cx="3749021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374902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应用案例 · 深圳宝安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862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Case · Bao'an, Shenzhen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8" name="case-photo"/>
          <p:cNvGrpSpPr/>
          <p:nvPr/>
        </p:nvGrpSpPr>
        <p:grpSpPr>
          <a:xfrm>
            <a:off x="756666" y="1809750"/>
            <a:ext cx="5148834" cy="4174109"/>
            <a:chOff x="756666" y="1809750"/>
            <a:chExt cx="5148834" cy="417410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rcRect t="608" b="607"/>
            <a:stretch>
              <a:fillRect/>
            </a:stretch>
          </p:blipFill>
          <p:spPr>
            <a:xfrm>
              <a:off x="762000" y="1809750"/>
              <a:ext cx="5143500" cy="38100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56666" y="57785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深圳市宝安区溪头工业园外墙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case-text"/>
          <p:cNvGrpSpPr/>
          <p:nvPr/>
        </p:nvGrpSpPr>
        <p:grpSpPr>
          <a:xfrm>
            <a:off x="6658356" y="1841500"/>
            <a:ext cx="4771644" cy="3304159"/>
            <a:chOff x="6658356" y="1841500"/>
            <a:chExt cx="4771644" cy="3304159"/>
          </a:xfrm>
        </p:grpSpPr>
        <p:sp>
          <p:nvSpPr>
            <p:cNvPr id="9" name="TextBox 9"/>
            <p:cNvSpPr txBox="1"/>
            <p:nvPr/>
          </p:nvSpPr>
          <p:spPr>
            <a:xfrm>
              <a:off x="6658356" y="184150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工业园外墙项目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62166" y="2178050"/>
              <a:ext cx="154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Industrial park facade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Freeform 11"/>
            <p:cNvSpPr/>
            <p:nvPr/>
          </p:nvSpPr>
          <p:spPr>
            <a:xfrm>
              <a:off x="6667500" y="24574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59880" y="267970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旧墙直接施工，不做整面铲除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2166" y="2997200"/>
              <a:ext cx="2130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工期短、成本可控，适合在用厂房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9880" y="35560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先做样板墙确认颜色与质感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2166" y="38735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确认后再批量施工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667500" y="44386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61404" y="464820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同样的现场经验用在胶水上：先打样、再上产线。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2166" y="4940300"/>
              <a:ext cx="2164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Sample first, then production.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0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09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4152881" cy="892175"/>
            <a:chOff x="746760" y="622300"/>
            <a:chExt cx="4152881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4152881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应用案例 · 安溪与广州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869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Cases · Anxi &amp; Guangzhou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9" name="case-pair"/>
          <p:cNvGrpSpPr/>
          <p:nvPr/>
        </p:nvGrpSpPr>
        <p:grpSpPr>
          <a:xfrm>
            <a:off x="755904" y="1752600"/>
            <a:ext cx="11304317" cy="4383659"/>
            <a:chOff x="755904" y="1752600"/>
            <a:chExt cx="11304317" cy="4383659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rcRect t="20" b="19"/>
            <a:stretch>
              <a:fillRect/>
            </a:stretch>
          </p:blipFill>
          <p:spPr>
            <a:xfrm>
              <a:off x="762000" y="1752600"/>
              <a:ext cx="2857500" cy="38100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755904" y="56769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安溪官岭外墙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5930900"/>
              <a:ext cx="18284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Anxi Guanling exterior wall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2500" r="2500"/>
            <a:stretch>
              <a:fillRect/>
            </a:stretch>
          </p:blipFill>
          <p:spPr>
            <a:xfrm>
              <a:off x="4191000" y="1752600"/>
              <a:ext cx="3619500" cy="3810000"/>
            </a:xfrm>
            <a:prstGeom prst="rect">
              <a:avLst/>
            </a:prstGeom>
          </p:spPr>
        </p:pic>
        <p:sp>
          <p:nvSpPr>
            <p:cNvPr id="10" name="TextBox 10"/>
            <p:cNvSpPr txBox="1"/>
            <p:nvPr/>
          </p:nvSpPr>
          <p:spPr>
            <a:xfrm>
              <a:off x="4184904" y="567690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广州市越秀区广州宾馆内墙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85666" y="5930900"/>
              <a:ext cx="20194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Guangzhou Hotel interior wall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74380" y="191770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外墙与内墙两类工况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8382000" y="2286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5904" y="25146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项目覆盖老旧外墙翻新与酒店内墙改造，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5904" y="276225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对基面处理、施工条件与验收口径的要求都不同。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5904" y="327660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胶水的选型逻辑相同：先看基材与工况，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5904" y="352425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再定胶种与型号，最后用样块确认。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76666" y="4121150"/>
              <a:ext cx="36835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From substrate and condition to product and sample.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0" name="Rectangle 2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5" name="brand-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7950" y="190500"/>
            <a:ext cx="1123950" cy="495300"/>
          </a:xfrm>
          <a:prstGeom prst="rect">
            <a:avLst/>
          </a:prstGeom>
        </p:spPr>
      </p:pic>
      <p:sp>
        <p:nvSpPr>
          <p:cNvPr id="1048897" name="accent-bar"/>
          <p:cNvSpPr/>
          <p:nvPr/>
        </p:nvSpPr>
        <p:spPr>
          <a:xfrm>
            <a:off x="0" y="0"/>
            <a:ext cx="114300" cy="6534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57" name="page-title"/>
          <p:cNvGrpSpPr/>
          <p:nvPr/>
        </p:nvGrpSpPr>
        <p:grpSpPr>
          <a:xfrm>
            <a:off x="746760" y="622300"/>
            <a:ext cx="2241864" cy="892175"/>
            <a:chOff x="746760" y="622300"/>
            <a:chExt cx="2241864" cy="892175"/>
          </a:xfrm>
        </p:grpSpPr>
        <p:sp>
          <p:nvSpPr>
            <p:cNvPr id="1048898" name="TextBox 4"/>
            <p:cNvSpPr txBox="1"/>
            <p:nvPr/>
          </p:nvSpPr>
          <p:spPr>
            <a:xfrm>
              <a:off x="746760" y="622300"/>
              <a:ext cx="1524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alt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产品合集</a:t>
              </a:r>
              <a:endParaRPr altLang="en-US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899" name="TextBox 5"/>
            <p:cNvSpPr txBox="1"/>
            <p:nvPr/>
          </p:nvSpPr>
          <p:spPr>
            <a:xfrm>
              <a:off x="755904" y="1143000"/>
              <a:ext cx="223272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Interior Wall Coating Application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0" name="Freeform 6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</p:grpSp>
      <p:grpSp>
        <p:nvGrpSpPr>
          <p:cNvPr id="158" name="interior-text"/>
          <p:cNvGrpSpPr/>
          <p:nvPr/>
        </p:nvGrpSpPr>
        <p:grpSpPr>
          <a:xfrm>
            <a:off x="752856" y="1968500"/>
            <a:ext cx="6105144" cy="4076700"/>
            <a:chOff x="752856" y="1968500"/>
            <a:chExt cx="6105144" cy="4076700"/>
          </a:xfrm>
        </p:grpSpPr>
        <p:sp>
          <p:nvSpPr>
            <p:cNvPr id="1048901" name="TextBox 8"/>
            <p:cNvSpPr txBox="1"/>
            <p:nvPr/>
          </p:nvSpPr>
          <p:spPr>
            <a:xfrm>
              <a:off x="752856" y="1968500"/>
              <a:ext cx="4590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内墙成品为哑光质感，手感细腻，光线照上去</a:t>
              </a:r>
              <a:b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没有明显反光与接缝。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2" name="Freeform 9"/>
            <p:cNvSpPr/>
            <p:nvPr/>
          </p:nvSpPr>
          <p:spPr>
            <a:xfrm>
              <a:off x="762000" y="31051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48903" name="TextBox 10"/>
            <p:cNvSpPr txBox="1"/>
            <p:nvPr/>
          </p:nvSpPr>
          <p:spPr>
            <a:xfrm>
              <a:off x="755904" y="339090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触感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4" name="TextBox 11"/>
            <p:cNvSpPr txBox="1"/>
            <p:nvPr/>
          </p:nvSpPr>
          <p:spPr>
            <a:xfrm>
              <a:off x="754380" y="3708400"/>
              <a:ext cx="3429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陶瓷级硬度，日常擦拭不掉粉、不留痕。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5" name="TextBox 12"/>
            <p:cNvSpPr txBox="1"/>
            <p:nvPr/>
          </p:nvSpPr>
          <p:spPr>
            <a:xfrm>
              <a:off x="755904" y="4248150"/>
              <a:ext cx="3048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气味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6" name="TextBox 13"/>
            <p:cNvSpPr txBox="1"/>
            <p:nvPr/>
          </p:nvSpPr>
          <p:spPr>
            <a:xfrm>
              <a:off x="754380" y="4565650"/>
              <a:ext cx="30975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VOC 未检出，施工期间无明显气味。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7" name="TextBox 14"/>
            <p:cNvSpPr txBox="1"/>
            <p:nvPr/>
          </p:nvSpPr>
          <p:spPr>
            <a:xfrm>
              <a:off x="755904" y="5105400"/>
              <a:ext cx="3048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使用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8" name="TextBox 15"/>
            <p:cNvSpPr txBox="1"/>
            <p:nvPr/>
          </p:nvSpPr>
          <p:spPr>
            <a:xfrm>
              <a:off x="754380" y="5422900"/>
              <a:ext cx="24765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随刷随住，不需要空置散味。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09" name="Freeform 16"/>
            <p:cNvSpPr/>
            <p:nvPr/>
          </p:nvSpPr>
          <p:spPr>
            <a:xfrm>
              <a:off x="762000" y="59626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1048910" name="TextBox 17"/>
            <p:cNvSpPr txBox="1"/>
            <p:nvPr/>
          </p:nvSpPr>
          <p:spPr>
            <a:xfrm>
              <a:off x="1022604" y="58674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内墙效果图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9" name="interior-photo"/>
          <p:cNvGrpSpPr/>
          <p:nvPr/>
        </p:nvGrpSpPr>
        <p:grpSpPr>
          <a:xfrm>
            <a:off x="6396355" y="751840"/>
            <a:ext cx="4286885" cy="5439410"/>
            <a:chOff x="7524750" y="1714500"/>
            <a:chExt cx="3619500" cy="4476750"/>
          </a:xfrm>
        </p:grpSpPr>
        <p:pic>
          <p:nvPicPr>
            <p:cNvPr id="2097206" name="Image 19"/>
            <p:cNvPicPr>
              <a:picLocks noChangeAspect="1"/>
            </p:cNvPicPr>
            <p:nvPr/>
          </p:nvPicPr>
          <p:blipFill>
            <a:blip r:embed="rId2"/>
            <a:srcRect t="1194" b="1195"/>
            <a:stretch>
              <a:fillRect/>
            </a:stretch>
          </p:blipFill>
          <p:spPr>
            <a:xfrm>
              <a:off x="7524750" y="1714500"/>
              <a:ext cx="3619500" cy="4476750"/>
            </a:xfrm>
            <a:prstGeom prst="rect">
              <a:avLst/>
            </a:prstGeom>
          </p:spPr>
        </p:pic>
        <p:sp>
          <p:nvSpPr>
            <p:cNvPr id="1048911" name="Freeform 20"/>
            <p:cNvSpPr/>
            <p:nvPr/>
          </p:nvSpPr>
          <p:spPr>
            <a:xfrm>
              <a:off x="7524750" y="1714500"/>
              <a:ext cx="3619500" cy="4476750"/>
            </a:xfrm>
            <a:custGeom>
              <a:avLst/>
              <a:gdLst/>
              <a:ahLst/>
              <a:cxnLst/>
              <a:rect l="l" t="t" r="r" b="b"/>
              <a:pathLst>
                <a:path w="3619500" h="4476750">
                  <a:moveTo>
                    <a:pt x="0" y="0"/>
                  </a:moveTo>
                  <a:lnTo>
                    <a:pt x="3619500" y="0"/>
                  </a:lnTo>
                  <a:lnTo>
                    <a:pt x="3619500" y="4476750"/>
                  </a:lnTo>
                  <a:lnTo>
                    <a:pt x="0" y="4476750"/>
                  </a:lnTo>
                  <a:close/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6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048912" name="Rectangle 22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48913" name="TextBox 23"/>
            <p:cNvSpPr txBox="1"/>
            <p:nvPr/>
          </p:nvSpPr>
          <p:spPr>
            <a:xfrm>
              <a:off x="604266" y="6616700"/>
              <a:ext cx="1791842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贝之然 BEST LAND · 纯无机涂料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8914" name="TextBox 24"/>
            <p:cNvSpPr txBox="1"/>
            <p:nvPr/>
          </p:nvSpPr>
          <p:spPr>
            <a:xfrm>
              <a:off x="11103540" y="6616700"/>
              <a:ext cx="406401" cy="139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27 / 79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905000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组装胶系列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840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PVA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0" name="model-table"/>
          <p:cNvGrpSpPr/>
          <p:nvPr/>
        </p:nvGrpSpPr>
        <p:grpSpPr>
          <a:xfrm>
            <a:off x="609600" y="1835150"/>
            <a:ext cx="6438900" cy="3113659"/>
            <a:chOff x="609600" y="1835150"/>
            <a:chExt cx="6438900" cy="311365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08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3304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3241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家具组装、阻力胶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59050"/>
              <a:ext cx="124753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Furniture assembly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685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8194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0734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SL-286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0670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压板、贴纸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302000"/>
              <a:ext cx="176886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Pressing &amp; paper lamination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111500"/>
              <a:ext cx="32639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5623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816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SL-360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81000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家具组装、45° 组装胶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4044950"/>
              <a:ext cx="13676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Assembly &amp; 45° joints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8544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305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495800"/>
              <a:ext cx="5591366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水性单组分，非易燃易爆；建议 5℃ 以上施工，木材含水率 8%~12%。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Water-based one-component, non-flammable; apply above 5°C, wood moisture 8–12%.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product-shots"/>
          <p:cNvGrpSpPr/>
          <p:nvPr/>
        </p:nvGrpSpPr>
        <p:grpSpPr>
          <a:xfrm>
            <a:off x="7519416" y="1714500"/>
            <a:ext cx="3910584" cy="4440809"/>
            <a:chOff x="7519416" y="1714500"/>
            <a:chExt cx="3910584" cy="4440809"/>
          </a:xfrm>
        </p:grpSpPr>
        <p:sp>
          <p:nvSpPr>
            <p:cNvPr id="31" name="Rectangle 31"/>
            <p:cNvSpPr/>
            <p:nvPr/>
          </p:nvSpPr>
          <p:spPr>
            <a:xfrm>
              <a:off x="75247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0" y="1809750"/>
              <a:ext cx="1619250" cy="1619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519416" y="36258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SL-101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202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5500" y="1809750"/>
              <a:ext cx="1619250" cy="161925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614916" y="36258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SL-286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4133850"/>
              <a:ext cx="1619250" cy="161925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19416" y="59499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SL-360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1" name="Rectangle 4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拼板胶系列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403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Lamination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6" name="model-table"/>
          <p:cNvGrpSpPr/>
          <p:nvPr/>
        </p:nvGrpSpPr>
        <p:grpSpPr>
          <a:xfrm>
            <a:off x="609600" y="1835150"/>
            <a:ext cx="6471857" cy="3640709"/>
            <a:chOff x="609600" y="1835150"/>
            <a:chExt cx="6471857" cy="364070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513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适用木种 Wood species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292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286000"/>
              <a:ext cx="7620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软木、杂木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20950"/>
              <a:ext cx="16178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Hardwood &amp; common 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304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781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29972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2990850"/>
              <a:ext cx="457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硬杂木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225800"/>
              <a:ext cx="89836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Premium 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0353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4861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7020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SL-113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695700"/>
              <a:ext cx="257048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硬木、油木、高端木（性能优于 112）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3930650"/>
              <a:ext cx="227703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Premium wood, higher performance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74015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1910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4069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SL-201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8904" y="44005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松木、软木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047" y="4635500"/>
              <a:ext cx="103054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Pine &amp; softwood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4445000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600" y="48958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5041900"/>
              <a:ext cx="6324791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可按客户基材与验收标准寄样，例如 65℃ 水煮 3 小时胶层不开裂。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Samples tested against your substrate and standard, e.g. 3 h boil at 65°C without delamination.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product-shots"/>
          <p:cNvGrpSpPr/>
          <p:nvPr/>
        </p:nvGrpSpPr>
        <p:grpSpPr>
          <a:xfrm>
            <a:off x="7519416" y="1714500"/>
            <a:ext cx="3910584" cy="4440809"/>
            <a:chOff x="7519416" y="1714500"/>
            <a:chExt cx="3910584" cy="4440809"/>
          </a:xfrm>
        </p:grpSpPr>
        <p:sp>
          <p:nvSpPr>
            <p:cNvPr id="37" name="Rectangle 37"/>
            <p:cNvSpPr/>
            <p:nvPr/>
          </p:nvSpPr>
          <p:spPr>
            <a:xfrm>
              <a:off x="75247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0" y="1809750"/>
              <a:ext cx="1619250" cy="161925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19416" y="36258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SL-111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6202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5500" y="1809750"/>
              <a:ext cx="1619250" cy="161925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614916" y="36258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SL-112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247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4133850"/>
              <a:ext cx="1619250" cy="161925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519416" y="59499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SL-113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202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5500" y="4133850"/>
              <a:ext cx="1619250" cy="1619250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9614916" y="59499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SL-201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50" name="Rectangle 5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黄胶系列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4162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Yellow Glue Series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6" name="model-table"/>
          <p:cNvGrpSpPr/>
          <p:nvPr/>
        </p:nvGrpSpPr>
        <p:grpSpPr>
          <a:xfrm>
            <a:off x="609600" y="1641475"/>
            <a:ext cx="6438900" cy="4402941"/>
            <a:chOff x="609600" y="1835150"/>
            <a:chExt cx="6438900" cy="3390826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386240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固含量 Solid content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705408"/>
              <a:ext cx="679079" cy="1599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SL-740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699058"/>
              <a:ext cx="698754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45%~50%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934008"/>
              <a:ext cx="997046" cy="1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Standard grade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743508"/>
              <a:ext cx="752761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3159618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282950"/>
              <a:ext cx="679079" cy="1599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SL-750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276600"/>
              <a:ext cx="698754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50%~55%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511550"/>
              <a:ext cx="1009987" cy="115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 solid grade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321050"/>
              <a:ext cx="752761" cy="124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20–1200 kg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7909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904" y="4038600"/>
              <a:ext cx="4750613" cy="1418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固含量是型号差异的核心指标　Solid content defines the grade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5142" y="4298950"/>
              <a:ext cx="4471416" cy="4440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含胶量越高，单位重量的有效成分越多，价格档位也越高。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客户可以按预算与用胶量选档。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6666" y="4870450"/>
              <a:ext cx="4277868" cy="3555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Higher solid content means more effective material per kilogram.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Choose the grade by budget and consumption.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product-shots"/>
          <p:cNvGrpSpPr/>
          <p:nvPr/>
        </p:nvGrpSpPr>
        <p:grpSpPr>
          <a:xfrm>
            <a:off x="8376666" y="1809750"/>
            <a:ext cx="2291334" cy="4497959"/>
            <a:chOff x="8376666" y="1809750"/>
            <a:chExt cx="2291334" cy="4497959"/>
          </a:xfrm>
        </p:grpSpPr>
        <p:sp>
          <p:nvSpPr>
            <p:cNvPr id="27" name="Rectangle 27"/>
            <p:cNvSpPr/>
            <p:nvPr/>
          </p:nvSpPr>
          <p:spPr>
            <a:xfrm>
              <a:off x="8382000" y="1809750"/>
              <a:ext cx="228600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667750" y="1905000"/>
              <a:ext cx="1714500" cy="17145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8376666" y="3816350"/>
              <a:ext cx="1245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SL-740　45%~50%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82000" y="4095750"/>
              <a:ext cx="2286000" cy="1905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67750" y="4191000"/>
              <a:ext cx="1714500" cy="1714500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8376666" y="6102350"/>
              <a:ext cx="1245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SL-750　50%~55%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4" name="Rectangle 34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" name="TextBox 17"/>
          <p:cNvSpPr txBox="1"/>
          <p:nvPr/>
        </p:nvSpPr>
        <p:spPr>
          <a:xfrm>
            <a:off x="783717" y="2054225"/>
            <a:ext cx="561975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SL-730</a:t>
            </a:r>
            <a:endParaRPr lang="en-US" sz="13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18"/>
          <p:cNvSpPr txBox="1"/>
          <p:nvPr/>
        </p:nvSpPr>
        <p:spPr>
          <a:xfrm>
            <a:off x="1977009" y="2055495"/>
            <a:ext cx="6972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0%~</a:t>
            </a:r>
            <a:r>
              <a:rPr lang="en-US" alt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4</a:t>
            </a:r>
            <a:r>
              <a: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5%</a:t>
            </a:r>
            <a:endParaRPr lang="zh-CN" sz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0" name="TextBox 19"/>
          <p:cNvSpPr txBox="1"/>
          <p:nvPr/>
        </p:nvSpPr>
        <p:spPr>
          <a:xfrm>
            <a:off x="1978152" y="2290445"/>
            <a:ext cx="1009987" cy="1916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High solid grade</a:t>
            </a:r>
            <a:endParaRPr lang="en-US" sz="98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1" name="TextBox 20"/>
          <p:cNvSpPr txBox="1"/>
          <p:nvPr/>
        </p:nvSpPr>
        <p:spPr>
          <a:xfrm>
            <a:off x="4934966" y="2071370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20–1200 kg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2" name="Freeform 22"/>
          <p:cNvSpPr/>
          <p:nvPr/>
        </p:nvSpPr>
        <p:spPr>
          <a:xfrm>
            <a:off x="596900" y="2667635"/>
            <a:ext cx="6438900" cy="9525"/>
          </a:xfrm>
          <a:custGeom>
            <a:avLst/>
            <a:gdLst/>
            <a:ahLst/>
            <a:cxnLst/>
            <a:rect l="l" t="t" r="r" b="b"/>
            <a:pathLst>
              <a:path w="6438900" h="9525">
                <a:moveTo>
                  <a:pt x="0" y="0"/>
                </a:moveTo>
                <a:lnTo>
                  <a:pt x="6438900" y="0"/>
                </a:lnTo>
              </a:path>
            </a:pathLst>
          </a:custGeom>
          <a:solidFill>
            <a:srgbClr val="000000"/>
          </a:solidFill>
          <a:ln w="9525">
            <a:solidFill>
              <a:schemeClr val="accent6"/>
            </a:solidFill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682240" cy="892175"/>
            <a:chOff x="746760" y="622300"/>
            <a:chExt cx="26822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03695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AB 胶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244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AB Glue &amp; Structural Bonding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0" name="model-table"/>
          <p:cNvGrpSpPr/>
          <p:nvPr/>
        </p:nvGrpSpPr>
        <p:grpSpPr>
          <a:xfrm>
            <a:off x="609600" y="1835150"/>
            <a:ext cx="6438900" cy="3113659"/>
            <a:chOff x="609600" y="1835150"/>
            <a:chExt cx="6438900" cy="3113659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5130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用途与节拍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3304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SL-901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32410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组装胶，4 小时后可进下道工序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59050"/>
              <a:ext cx="12566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h to next process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6855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8194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30734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SL-902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306705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组装胶，2 小时后可进下道工序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302000"/>
              <a:ext cx="125662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h to next process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11150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5623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81635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SL-518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81000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青红胶，大理石粘接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4044950"/>
              <a:ext cx="95729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Marble bonding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854450"/>
              <a:ext cx="5902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kg / 组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3053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6666" y="4495800"/>
              <a:ext cx="4131183" cy="4530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双组分按配比混合使用；赶节拍选 902，需要更长可操作时间选 901。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Two-component system; choose by the time your line needs.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product-shots"/>
          <p:cNvGrpSpPr/>
          <p:nvPr/>
        </p:nvGrpSpPr>
        <p:grpSpPr>
          <a:xfrm>
            <a:off x="7519416" y="1714500"/>
            <a:ext cx="3910584" cy="4440809"/>
            <a:chOff x="7519416" y="1714500"/>
            <a:chExt cx="3910584" cy="4440809"/>
          </a:xfrm>
        </p:grpSpPr>
        <p:sp>
          <p:nvSpPr>
            <p:cNvPr id="31" name="Rectangle 31"/>
            <p:cNvSpPr/>
            <p:nvPr/>
          </p:nvSpPr>
          <p:spPr>
            <a:xfrm>
              <a:off x="75247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0" y="1809750"/>
              <a:ext cx="1619250" cy="1619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519416" y="3625850"/>
              <a:ext cx="842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SL-901　4 h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6202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5500" y="1809750"/>
              <a:ext cx="1619250" cy="1619250"/>
            </a:xfrm>
            <a:prstGeom prst="rect">
              <a:avLst/>
            </a:prstGeom>
          </p:spPr>
        </p:pic>
        <p:sp>
          <p:nvSpPr>
            <p:cNvPr id="36" name="TextBox 36"/>
            <p:cNvSpPr txBox="1"/>
            <p:nvPr/>
          </p:nvSpPr>
          <p:spPr>
            <a:xfrm>
              <a:off x="9614916" y="3625850"/>
              <a:ext cx="8427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SL-902　2 h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247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4133850"/>
              <a:ext cx="1619250" cy="161925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19416" y="5949950"/>
              <a:ext cx="11042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SL-518　marble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1" name="Rectangle 41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4640542" cy="892175"/>
            <a:chOff x="746760" y="622300"/>
            <a:chExt cx="4640542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46405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木皮胶 · 热熔胶 · 固化剂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2718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Veneer Glue · Hot-melt · Hardener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6" name="model-table"/>
          <p:cNvGrpSpPr/>
          <p:nvPr/>
        </p:nvGrpSpPr>
        <p:grpSpPr>
          <a:xfrm>
            <a:off x="609600" y="1835150"/>
            <a:ext cx="6438900" cy="3668395"/>
            <a:chOff x="609600" y="1835150"/>
            <a:chExt cx="6438900" cy="3668395"/>
          </a:xfrm>
        </p:grpSpPr>
        <p:sp>
          <p:nvSpPr>
            <p:cNvPr id="6" name="TextBox 6"/>
            <p:cNvSpPr txBox="1"/>
            <p:nvPr/>
          </p:nvSpPr>
          <p:spPr>
            <a:xfrm>
              <a:off x="756666" y="1835150"/>
              <a:ext cx="722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型号 Model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9666" y="1835150"/>
              <a:ext cx="10890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用途 Application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947666" y="1835150"/>
              <a:ext cx="8490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包装 Packing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20764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5142" y="2273300"/>
              <a:ext cx="679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SL-128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898904" y="226695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热压高温贴木皮胶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900047" y="2501900"/>
              <a:ext cx="143920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Hot-press veneer glue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947666" y="231140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kg / 桶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27622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2978150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SL-4350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98904" y="297180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高温热熔胶粒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00047" y="3206750"/>
              <a:ext cx="17558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High-temp hot-melt pellets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947666" y="301625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sz="1050" dirty="0">
                  <a:solidFill>
                    <a:schemeClr val="accent5"/>
                  </a:solidFill>
                  <a:sym typeface="+mn-ea"/>
                </a:rPr>
                <a:t>2</a:t>
              </a:r>
              <a:r>
                <a:rPr lang="en-US" altLang="zh-CN" sz="1050" dirty="0">
                  <a:solidFill>
                    <a:schemeClr val="accent5"/>
                  </a:solidFill>
                  <a:sym typeface="+mn-ea"/>
                </a:rPr>
                <a:t>5</a:t>
              </a:r>
              <a:r>
                <a:rPr sz="1050" dirty="0">
                  <a:solidFill>
                    <a:schemeClr val="accent5"/>
                  </a:solidFill>
                  <a:sym typeface="+mn-ea"/>
                </a:rPr>
                <a:t> kg / 包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34671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55142" y="3683000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SL-4360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98904" y="36766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中温热熔胶粒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00047" y="3911600"/>
              <a:ext cx="170974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Mid-temp hot-melt pellets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947666" y="3721100"/>
              <a:ext cx="57023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en-US" alt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</a:t>
              </a: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kg / 包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Freeform 28"/>
            <p:cNvSpPr/>
            <p:nvPr/>
          </p:nvSpPr>
          <p:spPr>
            <a:xfrm>
              <a:off x="609600" y="417195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55142" y="4387850"/>
              <a:ext cx="457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PH-7</a:t>
              </a:r>
              <a:endParaRPr lang="en-US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98904" y="43815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固化剂（架桥剂）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00047" y="4616450"/>
              <a:ext cx="155144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Hardener / cross-linker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47666" y="44259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按包装另议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09600" y="4876800"/>
              <a:ext cx="6438900" cy="9525"/>
            </a:xfrm>
            <a:custGeom>
              <a:avLst/>
              <a:gdLst/>
              <a:ahLst/>
              <a:cxnLst/>
              <a:rect l="l" t="t" r="r" b="b"/>
              <a:pathLst>
                <a:path w="6438900" h="9525">
                  <a:moveTo>
                    <a:pt x="0" y="0"/>
                  </a:moveTo>
                  <a:lnTo>
                    <a:pt x="64389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56666" y="5041900"/>
              <a:ext cx="540829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PH-7 为德国进口架桥剂，价格随行就市，报价前确认当期价格；添加比例按型号工艺执行。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Imported cross-linker, price subject to market; dosage follows the process sheet.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product-shots"/>
          <p:cNvGrpSpPr/>
          <p:nvPr/>
        </p:nvGrpSpPr>
        <p:grpSpPr>
          <a:xfrm>
            <a:off x="7519416" y="1714500"/>
            <a:ext cx="3910584" cy="4440809"/>
            <a:chOff x="7519416" y="1714500"/>
            <a:chExt cx="3910584" cy="4440809"/>
          </a:xfrm>
        </p:grpSpPr>
        <p:sp>
          <p:nvSpPr>
            <p:cNvPr id="37" name="Rectangle 37"/>
            <p:cNvSpPr/>
            <p:nvPr/>
          </p:nvSpPr>
          <p:spPr>
            <a:xfrm>
              <a:off x="75247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8" name="Image 3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620000" y="1809750"/>
              <a:ext cx="1619250" cy="1619250"/>
            </a:xfrm>
            <a:prstGeom prst="rect">
              <a:avLst/>
            </a:prstGeom>
          </p:spPr>
        </p:pic>
        <p:sp>
          <p:nvSpPr>
            <p:cNvPr id="39" name="TextBox 39"/>
            <p:cNvSpPr txBox="1"/>
            <p:nvPr/>
          </p:nvSpPr>
          <p:spPr>
            <a:xfrm>
              <a:off x="7519416" y="3625850"/>
              <a:ext cx="5035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SL-128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620250" y="17145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1" name="Image 4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5500" y="1809750"/>
              <a:ext cx="1619250" cy="1619250"/>
            </a:xfrm>
            <a:prstGeom prst="rect">
              <a:avLst/>
            </a:prstGeom>
          </p:spPr>
        </p:pic>
        <p:sp>
          <p:nvSpPr>
            <p:cNvPr id="42" name="TextBox 42"/>
            <p:cNvSpPr txBox="1"/>
            <p:nvPr/>
          </p:nvSpPr>
          <p:spPr>
            <a:xfrm>
              <a:off x="9614916" y="3625850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SL-4350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75247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4" name="Image 4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0000" y="4133850"/>
              <a:ext cx="1619250" cy="1619250"/>
            </a:xfrm>
            <a:prstGeom prst="rect">
              <a:avLst/>
            </a:prstGeom>
          </p:spPr>
        </p:pic>
        <p:sp>
          <p:nvSpPr>
            <p:cNvPr id="45" name="TextBox 45"/>
            <p:cNvSpPr txBox="1"/>
            <p:nvPr/>
          </p:nvSpPr>
          <p:spPr>
            <a:xfrm>
              <a:off x="7519416" y="5949950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SL-4360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20250" y="4038600"/>
              <a:ext cx="1809750" cy="1809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47" name="Image 4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15500" y="4133850"/>
              <a:ext cx="1619250" cy="1619250"/>
            </a:xfrm>
            <a:prstGeom prst="rect">
              <a:avLst/>
            </a:prstGeom>
          </p:spPr>
        </p:pic>
        <p:sp>
          <p:nvSpPr>
            <p:cNvPr id="48" name="TextBox 48"/>
            <p:cNvSpPr txBox="1"/>
            <p:nvPr/>
          </p:nvSpPr>
          <p:spPr>
            <a:xfrm>
              <a:off x="9614916" y="5949950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PH-7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50" name="Rectangle 5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施胶工艺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5483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Application Process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32" name="process-table"/>
          <p:cNvGrpSpPr/>
          <p:nvPr/>
        </p:nvGrpSpPr>
        <p:grpSpPr>
          <a:xfrm>
            <a:off x="609600" y="1714500"/>
            <a:ext cx="10972800" cy="2712593"/>
            <a:chOff x="609600" y="1714500"/>
            <a:chExt cx="10972800" cy="2712593"/>
          </a:xfrm>
        </p:grpSpPr>
        <p:sp>
          <p:nvSpPr>
            <p:cNvPr id="6" name="Rectangle 6"/>
            <p:cNvSpPr/>
            <p:nvPr/>
          </p:nvSpPr>
          <p:spPr>
            <a:xfrm>
              <a:off x="609600" y="1714500"/>
              <a:ext cx="10972800" cy="419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104" y="182880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对比项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6134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手工刷胶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80404" y="1828800"/>
              <a:ext cx="8441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滚筒 / 刮板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37904" y="182880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机械辊涂 / 淋涂</a:t>
              </a:r>
              <a:endParaRPr lang="zh-CN" sz="12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866" y="23114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涂胶均匀性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14166" y="2311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依赖手感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81166" y="23114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较均匀，可控制胶层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38666" y="23114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均匀，可稳定复制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609600" y="259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2866" y="280670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用胶量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4166" y="2806700"/>
              <a:ext cx="10778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偏高约 10%~20%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81166" y="28067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38666" y="280670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" y="3086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2866" y="33020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效率与投入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141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效率低，投入低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11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效率中，投入低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138666" y="33020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效率高，投入高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Freeform 25"/>
            <p:cNvSpPr/>
            <p:nvPr/>
          </p:nvSpPr>
          <p:spPr>
            <a:xfrm>
              <a:off x="609600" y="3581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32866" y="37973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适用场景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4166" y="379730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小批量、异形件、修补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166" y="3797300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平面板材、中等批量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38666" y="37973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大批量平板、封边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09600" y="4076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33247" y="4235450"/>
              <a:ext cx="3603133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Uniformity · Consumption · Efficiency · Suitable volume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material-match"/>
          <p:cNvGrpSpPr/>
          <p:nvPr/>
        </p:nvGrpSpPr>
        <p:grpSpPr>
          <a:xfrm>
            <a:off x="602742" y="4838700"/>
            <a:ext cx="6455595" cy="1278509"/>
            <a:chOff x="602742" y="4838700"/>
            <a:chExt cx="6455595" cy="1278509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4838700"/>
              <a:ext cx="2594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按基材选胶　Choose by substrate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2742" y="5124450"/>
              <a:ext cx="6340221" cy="568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普通木 → SL-111　　·　　高端木 → SL-112 / SL-113　　·　　松木软木 → SL-201</a:t>
              </a:r>
              <a:b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压板贴纸 → SL-286　　·　　贴木皮 → SL-128　　·　　石材 → SL-518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4266" y="5911850"/>
              <a:ext cx="6454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胶合强度对涂胶均匀性最敏感，建议用称重法抽检 g/m²。　Uniform coating weight matters most.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37" name="Rectangle 3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定制与贴牌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658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Customization &amp; OEM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4" name="custom-cards"/>
          <p:cNvGrpSpPr/>
          <p:nvPr/>
        </p:nvGrpSpPr>
        <p:grpSpPr>
          <a:xfrm>
            <a:off x="609600" y="1905000"/>
            <a:ext cx="10972800" cy="3143250"/>
            <a:chOff x="609600" y="1905000"/>
            <a:chExt cx="10972800" cy="3143250"/>
          </a:xfrm>
        </p:grpSpPr>
        <p:sp>
          <p:nvSpPr>
            <p:cNvPr id="6" name="Rectangle 6"/>
            <p:cNvSpPr/>
            <p:nvPr/>
          </p:nvSpPr>
          <p:spPr>
            <a:xfrm>
              <a:off x="6096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05256" y="21844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包装定制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066" y="2501900"/>
              <a:ext cx="67919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Packaging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Freeform 9"/>
            <p:cNvSpPr/>
            <p:nvPr/>
          </p:nvSpPr>
          <p:spPr>
            <a:xfrm>
              <a:off x="9144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8304" y="2940050"/>
              <a:ext cx="201625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 / 25 / 50 / 220 / 1200 kg</a:t>
              </a:r>
              <a:b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五种桶装规格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 胶与青红胶为 2 kg/组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9066" y="3930650"/>
              <a:ext cx="182422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Five drum sizes; AB glue and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epoxy packed 2 kg/set.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77156" y="21844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标签与贴牌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80966" y="2501900"/>
              <a:ext cx="14051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Label &amp; Private label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Freeform 15"/>
            <p:cNvSpPr/>
            <p:nvPr/>
          </p:nvSpPr>
          <p:spPr>
            <a:xfrm>
              <a:off x="46863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80204" y="2940050"/>
              <a:ext cx="15361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中英文包装可做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客户品牌桶与标签可做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适合贸易商与自有品牌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80966" y="3930650"/>
              <a:ext cx="171754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Bilingual packaging and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customer-branded drums.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153400" y="1905000"/>
              <a:ext cx="3429000" cy="3143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449056" y="218440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配方调整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2866" y="2501900"/>
              <a:ext cx="827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Formulation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Freeform 21"/>
            <p:cNvSpPr/>
            <p:nvPr/>
          </p:nvSpPr>
          <p:spPr>
            <a:xfrm>
              <a:off x="8458200" y="2781300"/>
              <a:ext cx="1371600" cy="9525"/>
            </a:xfrm>
            <a:custGeom>
              <a:avLst/>
              <a:gdLst/>
              <a:ahLst/>
              <a:cxnLst/>
              <a:rect l="l" t="t" r="r" b="b"/>
              <a:pathLst>
                <a:path w="1371600" h="9525">
                  <a:moveTo>
                    <a:pt x="0" y="0"/>
                  </a:moveTo>
                  <a:lnTo>
                    <a:pt x="13716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52104" y="2940050"/>
              <a:ext cx="1840992" cy="768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按客户基材与工艺调整配方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起订量、加价与交期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按项目确认后报价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52866" y="3930650"/>
              <a:ext cx="20109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Adjusted to your substrate;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MOQ and lead time on request.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custom-note"/>
          <p:cNvGrpSpPr/>
          <p:nvPr/>
        </p:nvGrpSpPr>
        <p:grpSpPr>
          <a:xfrm>
            <a:off x="602742" y="5372100"/>
            <a:ext cx="10979658" cy="687959"/>
            <a:chOff x="602742" y="5372100"/>
            <a:chExt cx="10979658" cy="687959"/>
          </a:xfrm>
        </p:grpSpPr>
        <p:sp>
          <p:nvSpPr>
            <p:cNvPr id="25" name="Freeform 25"/>
            <p:cNvSpPr/>
            <p:nvPr/>
          </p:nvSpPr>
          <p:spPr>
            <a:xfrm>
              <a:off x="609600" y="5372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2742" y="5549900"/>
              <a:ext cx="6374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标准型号按目录价直接下单；定制项确认包装、标签与配方后出具正式报价单。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04266" y="5854700"/>
              <a:ext cx="8079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Standard models ship at list price; customized orders are quoted after confirming packaging, label and formulation.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9" name="Rectangle 29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04978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寄样与打样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595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Free Samples &amp; Trial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0" name="sample-steps"/>
          <p:cNvGrpSpPr/>
          <p:nvPr/>
        </p:nvGrpSpPr>
        <p:grpSpPr>
          <a:xfrm>
            <a:off x="746760" y="1993900"/>
            <a:ext cx="10683240" cy="1970659"/>
            <a:chOff x="746760" y="1993900"/>
            <a:chExt cx="10683240" cy="1970659"/>
          </a:xfrm>
        </p:grpSpPr>
        <p:sp>
          <p:nvSpPr>
            <p:cNvPr id="6" name="TextBox 6"/>
            <p:cNvSpPr txBox="1"/>
            <p:nvPr/>
          </p:nvSpPr>
          <p:spPr>
            <a:xfrm>
              <a:off x="746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4380" y="26035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你告诉我们工况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6666" y="2863850"/>
              <a:ext cx="9441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基材、涂胶方式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与验收标准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13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421380" y="2603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我们寄样给你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23666" y="2863850"/>
              <a:ext cx="8107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按型号寄样品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与技术资料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80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88380" y="26035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你上机试胶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90666" y="2863850"/>
              <a:ext cx="107746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用你的基材与设备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做样块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47760" y="1993900"/>
              <a:ext cx="49693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55380" y="260350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合格再谈批量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57666" y="2863850"/>
              <a:ext cx="9441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确认型号、价格</a:t>
              </a:r>
              <a:b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与交期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3543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6666" y="3759200"/>
              <a:ext cx="72567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Step 1: tell us your substrate · Step 2: we send samples · Step 3: you run a trial · Step 4: volume order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sample-note"/>
          <p:cNvGrpSpPr/>
          <p:nvPr/>
        </p:nvGrpSpPr>
        <p:grpSpPr>
          <a:xfrm>
            <a:off x="754380" y="4184650"/>
            <a:ext cx="7444740" cy="1703959"/>
            <a:chOff x="754380" y="4184650"/>
            <a:chExt cx="7444740" cy="1703959"/>
          </a:xfrm>
        </p:grpSpPr>
        <p:sp>
          <p:nvSpPr>
            <p:cNvPr id="21" name="TextBox 21"/>
            <p:cNvSpPr txBox="1"/>
            <p:nvPr/>
          </p:nvSpPr>
          <p:spPr>
            <a:xfrm>
              <a:off x="754380" y="4184650"/>
              <a:ext cx="744474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样品由我们寄出，不需要你先寄基材；如果基材特殊，也可以同步寄一小块给我们试配。</a:t>
              </a:r>
              <a:b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常用验收口径：涂胶后 65℃ 水煮 3 小时，胶层不开裂。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6666" y="4908550"/>
              <a:ext cx="6098096" cy="4339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00"/>
                </a:lnSpc>
              </a:pP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Samples are sent by us — no need to ship substrate first. Typical acceptance: 3 h boil at 65°C</a:t>
              </a:r>
              <a:b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without delamination.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Freeform 23"/>
            <p:cNvSpPr/>
            <p:nvPr/>
          </p:nvSpPr>
          <p:spPr>
            <a:xfrm>
              <a:off x="762000" y="5505450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solidFill>
              <a:srgbClr val="000000"/>
            </a:solidFill>
            <a:ln w="38100">
              <a:solidFill>
                <a:schemeClr val="accent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22604" y="541020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寄样与试胶不收费，运输方式按地区协商。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3366" y="5683250"/>
              <a:ext cx="3231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Sampling and trial support are free of charge.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7" name="Rectangle 27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18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政策导向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241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Policy Direction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2" name="policy-list"/>
          <p:cNvGrpSpPr/>
          <p:nvPr/>
        </p:nvGrpSpPr>
        <p:grpSpPr>
          <a:xfrm>
            <a:off x="754380" y="1822450"/>
            <a:ext cx="10675620" cy="4294759"/>
            <a:chOff x="754380" y="1822450"/>
            <a:chExt cx="10675620" cy="4294759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18288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87780" y="182245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《「十四五」建筑节能与绿色建筑发展规划》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0066" y="2120900"/>
              <a:ext cx="45268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到 2025 年新建建筑全面执行绿色建筑标准，绿色建材应用比例超过 70%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26289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87780" y="26225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《绿色建材产业高质量发展实施方案》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90066" y="292100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推动涂料与胶粘剂向水性、无溶剂方向转型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34290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7780" y="3422650"/>
              <a:ext cx="47183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《建筑防火通用规范》GB 55037-2022（全文强制）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90066" y="3721100"/>
              <a:ext cx="35444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人员密集场所装饰材料燃烧性能要求提高，油性材料受限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4380" y="4229100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7780" y="4222750"/>
              <a:ext cx="512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《民用建筑工程室内环境污染控制标准》GB 50325-2020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90066" y="4521200"/>
              <a:ext cx="33449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室内 VOC 限量持续收紧，水性与无溶剂产品更易达标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50482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55142" y="5226050"/>
              <a:ext cx="5209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政策的方向很清楚：从溶剂型转向水性，从高 VOC 转向低排放。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66" y="5530850"/>
              <a:ext cx="63421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direction is clear: from solvent-based to water-based, from high VOC to low emission.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666" y="5911850"/>
              <a:ext cx="4533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以上为民用与建筑领域的公开政策口径，具体条款以官方发布原文为准。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23" name="Rectangle 23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839469" cy="892175"/>
            <a:chOff x="746760" y="622300"/>
            <a:chExt cx="2839469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28394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VOCs 减排政策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7336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VOCs Reduction Policy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18" name="voc-items"/>
          <p:cNvGrpSpPr/>
          <p:nvPr/>
        </p:nvGrpSpPr>
        <p:grpSpPr>
          <a:xfrm>
            <a:off x="754380" y="1879600"/>
            <a:ext cx="10675620" cy="4294759"/>
            <a:chOff x="754380" y="1879600"/>
            <a:chExt cx="10675620" cy="4294759"/>
          </a:xfrm>
        </p:grpSpPr>
        <p:sp>
          <p:nvSpPr>
            <p:cNvPr id="6" name="TextBox 6"/>
            <p:cNvSpPr txBox="1"/>
            <p:nvPr/>
          </p:nvSpPr>
          <p:spPr>
            <a:xfrm>
              <a:off x="754380" y="1879600"/>
              <a:ext cx="51221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《民用建筑工程室内环境污染控制标准》GB 50325-2020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6666" y="2178050"/>
              <a:ext cx="3441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VOC 限量再收紧；水性胶粘剂更容易满足室内验收要求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2679700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《挥发性有机物治理攻坚方案》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2978150"/>
              <a:ext cx="30174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推广低（无）VOC 原辅材料替代，鼓励水性体系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380" y="3479800"/>
              <a:ext cx="37509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《产业结构调整指导目录（2024 年本）》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3778250"/>
              <a:ext cx="23106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低 VOC、环境友好型产品列入鼓励类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4279900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地方落地政策（广东等地）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4578350"/>
              <a:ext cx="41098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对绿色建材应用与清洁生产给予支持，采购侧优先选择低排放产品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2000" y="51816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55142" y="5359400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对家具厂的实际影响：水性胶、低气味、可核查的检测报告，正在成为验厂与验收的常规项。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5664200"/>
              <a:ext cx="6871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For furniture factories, water-based, low-odour and reportable products are becoming the norm.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5969000"/>
              <a:ext cx="32617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政策条款以官方发布原文为准；本页仅作方向说明。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19" name="Rectangle 19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title"/>
          <p:cNvGrpSpPr/>
          <p:nvPr/>
        </p:nvGrpSpPr>
        <p:grpSpPr>
          <a:xfrm>
            <a:off x="746760" y="622300"/>
            <a:ext cx="2110740" cy="892175"/>
            <a:chOff x="746760" y="622300"/>
            <a:chExt cx="2110740" cy="892175"/>
          </a:xfrm>
        </p:grpSpPr>
        <p:sp>
          <p:nvSpPr>
            <p:cNvPr id="2" name="TextBox 2"/>
            <p:cNvSpPr txBox="1"/>
            <p:nvPr/>
          </p:nvSpPr>
          <p:spPr>
            <a:xfrm>
              <a:off x="746760" y="622300"/>
              <a:ext cx="164592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推广矩阵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5904" y="1143000"/>
              <a:ext cx="13875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Promotion Matrix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762000" y="150495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chemeClr val="accent2"/>
              </a:solidFill>
            </a:ln>
          </p:spPr>
        </p:sp>
      </p:grpSp>
      <p:grpSp>
        <p:nvGrpSpPr>
          <p:cNvPr id="22" name="matrix-domestic"/>
          <p:cNvGrpSpPr/>
          <p:nvPr/>
        </p:nvGrpSpPr>
        <p:grpSpPr>
          <a:xfrm>
            <a:off x="755904" y="1828800"/>
            <a:ext cx="4959096" cy="4078859"/>
            <a:chOff x="755904" y="1828800"/>
            <a:chExt cx="4959096" cy="4078859"/>
          </a:xfrm>
        </p:grpSpPr>
        <p:sp>
          <p:nvSpPr>
            <p:cNvPr id="6" name="TextBox 6"/>
            <p:cNvSpPr txBox="1"/>
            <p:nvPr/>
          </p:nvSpPr>
          <p:spPr>
            <a:xfrm>
              <a:off x="7559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国内阵地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Freeform 7"/>
            <p:cNvSpPr/>
            <p:nvPr/>
          </p:nvSpPr>
          <p:spPr>
            <a:xfrm>
              <a:off x="762000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6666" y="2235200"/>
              <a:ext cx="15557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企业官网　Website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6666" y="2501900"/>
              <a:ext cx="1202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百度　Search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6666" y="2768600"/>
              <a:ext cx="1006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1688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6666" y="3035300"/>
              <a:ext cx="1570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淘宝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6666" y="3302000"/>
              <a:ext cx="1570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京东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6666" y="3568700"/>
              <a:ext cx="1712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06　拼多多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6666" y="3835400"/>
              <a:ext cx="15204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　抖音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6666" y="4102100"/>
              <a:ext cx="16618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　视频号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6666" y="4368800"/>
              <a:ext cx="1555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09　微信公众号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6666" y="4635500"/>
              <a:ext cx="12724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　小红书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6666" y="4902200"/>
              <a:ext cx="10078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11　知乎　Q&amp;A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6666" y="5168900"/>
              <a:ext cx="1421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　百家号　Content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6666" y="5435600"/>
              <a:ext cx="13716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　哔哩哔哩　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6666" y="5702300"/>
              <a:ext cx="11310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　微博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matrix-overseas"/>
          <p:cNvGrpSpPr/>
          <p:nvPr/>
        </p:nvGrpSpPr>
        <p:grpSpPr>
          <a:xfrm>
            <a:off x="6280404" y="1828800"/>
            <a:ext cx="4959096" cy="4269359"/>
            <a:chOff x="6280404" y="1828800"/>
            <a:chExt cx="4959096" cy="4269359"/>
          </a:xfrm>
        </p:grpSpPr>
        <p:sp>
          <p:nvSpPr>
            <p:cNvPr id="23" name="TextBox 23"/>
            <p:cNvSpPr txBox="1"/>
            <p:nvPr/>
          </p:nvSpPr>
          <p:spPr>
            <a:xfrm>
              <a:off x="6280404" y="182880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跨境阵地</a:t>
              </a:r>
              <a:endParaRPr lang="zh-CN" sz="12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286500" y="2095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281166" y="2235200"/>
              <a:ext cx="1354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　Google　Search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1166" y="2501900"/>
              <a:ext cx="1787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　Amazon　E-commerce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81166" y="2768600"/>
              <a:ext cx="11726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17　Alibaba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81166" y="3035300"/>
              <a:ext cx="1686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　Global Sources　B2B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1166" y="3302000"/>
              <a:ext cx="14747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　Facebook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81166" y="3568700"/>
              <a:ext cx="1545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　Instagram　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81166" y="3835400"/>
              <a:ext cx="16888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　LinkedIn　B2B social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81166" y="4102100"/>
              <a:ext cx="13592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22　YouTube　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81166" y="4368800"/>
              <a:ext cx="16770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　TikTok　Short video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81166" y="4635500"/>
              <a:ext cx="15434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24　WhatsApp　Direct</a:t>
              </a:r>
              <a:endParaRPr lang="zh-CN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6286500" y="5143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1166" y="535940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图文与视频双线发布，国内与跨境同步更新；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81166" y="5607050"/>
              <a:ext cx="28376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产品资料、施工视频与客户案例为主要内容。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81166" y="5892800"/>
              <a:ext cx="3372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Content across domestic and overseas channels.</a:t>
              </a:r>
              <a:endPara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0" y="6534150"/>
            <a:ext cx="12192000" cy="323850"/>
            <a:chOff x="0" y="6534150"/>
            <a:chExt cx="12192000" cy="323850"/>
          </a:xfrm>
        </p:grpSpPr>
        <p:sp>
          <p:nvSpPr>
            <p:cNvPr id="40" name="Rectangle 40"/>
            <p:cNvSpPr/>
            <p:nvPr/>
          </p:nvSpPr>
          <p:spPr>
            <a:xfrm>
              <a:off x="0" y="6534150"/>
              <a:ext cx="121920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6666" y="6616700"/>
              <a:ext cx="20669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永耐胶水 YONGNAI · 水性胶粘剂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51140" y="6616700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21 / 22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sing-orange"/>
          <p:cNvSpPr/>
          <p:nvPr/>
        </p:nvSpPr>
        <p:spPr>
          <a:xfrm>
            <a:off x="9334500" y="0"/>
            <a:ext cx="2857500" cy="6858000"/>
          </a:xfrm>
          <a:custGeom>
            <a:avLst/>
            <a:gdLst/>
            <a:ahLst/>
            <a:cxnLst/>
            <a:rect l="l" t="t" r="r" b="b"/>
            <a:pathLst>
              <a:path w="2857500" h="6858000">
                <a:moveTo>
                  <a:pt x="0" y="0"/>
                </a:moveTo>
                <a:lnTo>
                  <a:pt x="2857500" y="0"/>
                </a:lnTo>
                <a:lnTo>
                  <a:pt x="2857500" y="6858000"/>
                </a:lnTo>
                <a:lnTo>
                  <a:pt x="133350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grpSp>
        <p:nvGrpSpPr>
          <p:cNvPr id="20" name="closing-note"/>
          <p:cNvGrpSpPr/>
          <p:nvPr/>
        </p:nvGrpSpPr>
        <p:grpSpPr>
          <a:xfrm>
            <a:off x="7805166" y="5549900"/>
            <a:ext cx="1477518" cy="624459"/>
            <a:chOff x="7805166" y="5549900"/>
            <a:chExt cx="1477518" cy="624459"/>
          </a:xfrm>
        </p:grpSpPr>
        <p:sp>
          <p:nvSpPr>
            <p:cNvPr id="18" name="TextBox 18"/>
            <p:cNvSpPr txBox="1"/>
            <p:nvPr/>
          </p:nvSpPr>
          <p:spPr>
            <a:xfrm>
              <a:off x="7805166" y="55499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报价说明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05166" y="5759450"/>
              <a:ext cx="1477518" cy="4149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50"/>
                </a:lnSpc>
              </a:pPr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本册为对外参考报价，</a:t>
              </a:r>
              <a:b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以下单当期报价单为准。</a:t>
              </a:r>
              <a:endParaRPr lang="zh-CN" sz="10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9270" y="3225800"/>
            <a:ext cx="1464310" cy="1462405"/>
          </a:xfrm>
          <a:prstGeom prst="rect">
            <a:avLst/>
          </a:prstGeom>
        </p:spPr>
      </p:pic>
      <p:grpSp>
        <p:nvGrpSpPr>
          <p:cNvPr id="322" name="back-title"/>
          <p:cNvGrpSpPr/>
          <p:nvPr/>
        </p:nvGrpSpPr>
        <p:grpSpPr>
          <a:xfrm>
            <a:off x="895350" y="1276350"/>
            <a:ext cx="2973195" cy="1187450"/>
            <a:chOff x="895350" y="1276350"/>
            <a:chExt cx="2973195" cy="1187450"/>
          </a:xfrm>
        </p:grpSpPr>
        <p:sp>
          <p:nvSpPr>
            <p:cNvPr id="1049394" name="TextBox 8"/>
            <p:cNvSpPr txBox="1"/>
            <p:nvPr/>
          </p:nvSpPr>
          <p:spPr>
            <a:xfrm>
              <a:off x="908304" y="1276350"/>
              <a:ext cx="954088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3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CONTACT</a:t>
              </a:r>
              <a:endParaRPr lang="en-US" sz="1200" spc="3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5" name="TextBox 9"/>
            <p:cNvSpPr txBox="1"/>
            <p:nvPr/>
          </p:nvSpPr>
          <p:spPr>
            <a:xfrm>
              <a:off x="895350" y="1606550"/>
              <a:ext cx="2133600" cy="62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4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联系我们</a:t>
              </a:r>
              <a:endParaRPr lang="zh-CN" sz="4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6" name="TextBox 10"/>
            <p:cNvSpPr txBox="1"/>
            <p:nvPr/>
          </p:nvSpPr>
          <p:spPr>
            <a:xfrm>
              <a:off x="908304" y="2286000"/>
              <a:ext cx="2960241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sz="1200" spc="1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ONCE CONTACT, NEVER SEPERATE</a:t>
              </a:r>
              <a:endParaRPr lang="en-US" sz="1200" spc="1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3" name="back-contact"/>
          <p:cNvGrpSpPr/>
          <p:nvPr/>
        </p:nvGrpSpPr>
        <p:grpSpPr>
          <a:xfrm>
            <a:off x="905256" y="3048000"/>
            <a:ext cx="2078355" cy="2224405"/>
            <a:chOff x="905256" y="3048000"/>
            <a:chExt cx="2078355" cy="2224405"/>
          </a:xfrm>
        </p:grpSpPr>
        <p:sp>
          <p:nvSpPr>
            <p:cNvPr id="1049397" name="TextBox 12"/>
            <p:cNvSpPr txBox="1"/>
            <p:nvPr/>
          </p:nvSpPr>
          <p:spPr>
            <a:xfrm>
              <a:off x="908304" y="3048000"/>
              <a:ext cx="7620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品牌创始人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8" name="TextBox 13"/>
            <p:cNvSpPr txBox="1"/>
            <p:nvPr/>
          </p:nvSpPr>
          <p:spPr>
            <a:xfrm>
              <a:off x="905256" y="3327400"/>
              <a:ext cx="2078355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罗世伟　Luo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ShiWei</a:t>
              </a:r>
              <a:endPara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399" name="TextBox 14"/>
            <p:cNvSpPr txBox="1"/>
            <p:nvPr/>
          </p:nvSpPr>
          <p:spPr>
            <a:xfrm>
              <a:off x="908304" y="3886200"/>
              <a:ext cx="7493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电话 / 微信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0" name="TextBox 15"/>
            <p:cNvSpPr txBox="1"/>
            <p:nvPr/>
          </p:nvSpPr>
          <p:spPr>
            <a:xfrm>
              <a:off x="905256" y="4152900"/>
              <a:ext cx="197485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+86 13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2375</a:t>
              </a: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US" alt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7790</a:t>
              </a:r>
              <a:endParaRPr lang="en-US" alt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1" name="TextBox 16"/>
            <p:cNvSpPr txBox="1"/>
            <p:nvPr/>
          </p:nvSpPr>
          <p:spPr>
            <a:xfrm>
              <a:off x="908304" y="4724400"/>
              <a:ext cx="749300" cy="17780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邮箱 / 官网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2" name="TextBox 17"/>
            <p:cNvSpPr txBox="1"/>
            <p:nvPr/>
          </p:nvSpPr>
          <p:spPr>
            <a:xfrm>
              <a:off x="906780" y="5041900"/>
              <a:ext cx="196342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en-US" alt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190370356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@qq.com　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4" name="back-address"/>
          <p:cNvGrpSpPr/>
          <p:nvPr/>
        </p:nvGrpSpPr>
        <p:grpSpPr>
          <a:xfrm>
            <a:off x="907542" y="5619750"/>
            <a:ext cx="4629150" cy="480695"/>
            <a:chOff x="907542" y="5619750"/>
            <a:chExt cx="4629150" cy="480695"/>
          </a:xfrm>
        </p:grpSpPr>
        <p:sp>
          <p:nvSpPr>
            <p:cNvPr id="1049403" name="TextBox 19"/>
            <p:cNvSpPr txBox="1"/>
            <p:nvPr/>
          </p:nvSpPr>
          <p:spPr>
            <a:xfrm>
              <a:off x="908304" y="5619750"/>
              <a:ext cx="609600" cy="177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公司地址</a:t>
              </a:r>
              <a:endParaRPr lang="zh-CN" sz="12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9404" name="TextBox 20"/>
            <p:cNvSpPr txBox="1"/>
            <p:nvPr/>
          </p:nvSpPr>
          <p:spPr>
            <a:xfrm>
              <a:off x="907542" y="5892800"/>
              <a:ext cx="46291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altLang="en-US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东莞市大岭山镇杨屋越秀大厦</a:t>
              </a:r>
              <a:r>
                <a:rPr lang="zh-CN" sz="1350" dirty="0">
                  <a:solidFill>
                    <a:srgbClr val="F4F1EA"/>
                  </a:solidFill>
                  <a:latin typeface="+mn-lt"/>
                  <a:ea typeface="+mn-ea"/>
                  <a:cs typeface="+mn-cs"/>
                </a:rPr>
                <a:t>　东莞市永耐环保科技有限公司</a:t>
              </a:r>
              <a:endParaRPr lang="zh-CN" sz="1350" dirty="0">
                <a:solidFill>
                  <a:srgbClr val="F4F1EA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7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8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0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1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2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3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4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5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6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7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8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ags/tag19.xml><?xml version="1.0" encoding="utf-8"?>
<p:tagLst xmlns:p="http://schemas.openxmlformats.org/presentationml/2006/main">
  <p:tag name="KSO_WM_DIAGRAM_VIRTUALLY_FRAME" val="{&quot;height&quot;:328.66999999999996,&quot;left&quot;:59.279999999999994,&quot;top&quot;:144,&quot;width&quot;:840.72}"/>
</p:tagLst>
</file>

<file path=ppt/theme/theme1.xml><?xml version="1.0" encoding="utf-8"?>
<a:theme xmlns:a="http://schemas.openxmlformats.org/drawingml/2006/main" name="yongnai_brochure">
  <a:themeElements>
    <a:clrScheme name="yongnai_brochure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yongnai_brochur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nai_broch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yongnai_brochure">
  <a:themeElements>
    <a:clrScheme name="yongnai_brochure">
      <a:dk1>
        <a:srgbClr val="1D2226"/>
      </a:dk1>
      <a:lt1>
        <a:srgbClr val="FFFFFF"/>
      </a:lt1>
      <a:dk2>
        <a:srgbClr val="1F497D"/>
      </a:dk2>
      <a:lt2>
        <a:srgbClr val="F4F1EA"/>
      </a:lt2>
      <a:accent1>
        <a:srgbClr val="1F3A44"/>
      </a:accent1>
      <a:accent2>
        <a:srgbClr val="F0A22E"/>
      </a:accent2>
      <a:accent3>
        <a:srgbClr val="2F6FB2"/>
      </a:accent3>
      <a:accent4>
        <a:srgbClr val="1F3A44"/>
      </a:accent4>
      <a:accent5>
        <a:srgbClr val="5C666B"/>
      </a:accent5>
      <a:accent6>
        <a:srgbClr val="D8D2C6"/>
      </a:accent6>
      <a:hlink>
        <a:srgbClr val="F0A22E"/>
      </a:hlink>
      <a:folHlink>
        <a:srgbClr val="2F6FB2"/>
      </a:folHlink>
    </a:clrScheme>
    <a:fontScheme name="yongnai_brochure">
      <a:majorFont>
        <a:latin typeface="Arial Black"/>
        <a:ea typeface="Microsoft YaHei"/>
        <a:cs typeface="Arial Black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yongnai_broch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8179</Words>
  <Application>WPS 演示</Application>
  <PresentationFormat>On-screen Show (16:9)</PresentationFormat>
  <Paragraphs>904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0" baseType="lpstr">
      <vt:lpstr>Arial</vt:lpstr>
      <vt:lpstr>宋体</vt:lpstr>
      <vt:lpstr>Wingdings</vt:lpstr>
      <vt:lpstr>Arial</vt:lpstr>
      <vt:lpstr>微软雅黑</vt:lpstr>
      <vt:lpstr>Arial Unicode MS</vt:lpstr>
      <vt:lpstr>yongnai_brochure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罗世凯</cp:lastModifiedBy>
  <cp:revision>2</cp:revision>
  <dcterms:created xsi:type="dcterms:W3CDTF">2026-10-28T03:25:00Z</dcterms:created>
  <dcterms:modified xsi:type="dcterms:W3CDTF">2026-10-28T03:52:57Z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93AE9089BA01455E8CA8455C44BF4D7F_12</vt:lpwstr>
  </property>
</Properties>
</file>