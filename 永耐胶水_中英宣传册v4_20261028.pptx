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9" r:id="rId8"/>
    <p:sldId id="260" r:id="rId9"/>
    <p:sldId id="278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6" r:id="rId19"/>
    <p:sldId id="277" r:id="rId2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这是永耐胶水的中英宣传册。和贝之然用同一套版式，讲的是水性胶粘剂：自有生产线、年产能一万余吨、包装从二十公斤到一千二百公斤。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东莞市永耐环保科技有限公司，专注水性胶粘剂。四个关键数字：四千平方米厂房、一万余吨年产能、九个产品系列、二十公斤到一千二百公斤的包装跨度。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回答「你们是自己生产还是转手卖」。自有厂房四千平方米、十余台生产设备、年产一万余吨、日产三十余吨；流程从原料检验、投料反应、研磨过滤、灌装封口到入库检验，五道环节都在厂内完成，所以返单快、批次稳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六条优势：型号全覆盖、按木种选型、固含量分档、耐水可验证、自有产线、包装灵活。核心逻辑是——胶水看不见效果，所以我们把选型标准、验收口径和样品都放在前面。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三张原件：公司商标注册证、CNAS 检测报告、ISO 三体认证。可以放大核对编号，也可以按客户要求另行提供盖章件。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916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内墙成品效果：哑光、细腻，没有明显反光和接缝；陶瓷级硬度，日常擦拭不掉粉。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白乳胶三支：SL-101 做家具组装与阻力胶，十二块一公斤；SL-286 做压板贴纸，八块；SL-360 兼顾四十五度组装，十三块。都是水性单组分。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拼板胶按木种分：普通木与硬木用 SL-111，高端木用 SL-112 或 SL-113，松木软木用 SL-201。四款都是双面涂胶、加压保压；可按客户的验收标准寄样先试，比如六十五度水煮三小时不开裂。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黄胶两支在售，差别在固含量：SL-740 是百分之四十五到五十，六块八一公斤；SL-750 是五十到五十五，十五块。含胶量越高价格越高，客户可以按预算选档。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AB 胶按节拍选：两小时进下道工序用 SL-902，四小时用 SL-901，都是两公斤一组。石材粘接用青红胶 SL-518。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贴面与辅料：SL-128 热压贴木皮，十五块；热熔胶粒 SL-4350 高温、SL-4360 中温，都是二十块；PH-7 是进口架桥剂，时价十五到四十，报价前要确认当期价格。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施胶三种方式：手工刷胶灵活但用胶量偏高，滚筒刮板适合平面板材与中等批量，机械辊涂最省胶但投入高。胶合强度对涂胶均匀性最敏感，建议用称重法抽检。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定制有三类：包装、标签与配方。从二十公斤桶到一千二百公斤吨桶，可以做中英文包装和客户品牌桶，配方也能按基材调整。标准型号按目录价直接下单。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寄样流程四步：一，你告诉我们基材、涂胶方式与验收标准；二，我们寄样给你；三，你用你的设备与基材试胶；四，合格了再谈批量。样品由我们寄出，不需要你先寄基材。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推广矩阵：国内从官网、百度、阿里、淘宝京东到抖音小红书，跨境从谷歌、亚马逊、阿里国际到领英与 WhatsApp。图文与视频双线发布。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联系我们：东莞市永耐环保科技有限公司，罗世伟，电话和微信都是 13723757790，地址在东莞市大岭山镇莞长路杨屋段 731 号越秀大厦。下一步很简单，把基材和验收标准告诉我们，我们寄样给你。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ongnai_brochur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  <p:pic>
        <p:nvPicPr>
          <p:cNvPr id="2" name="图片 1" descr="彩色贝壳风格永耐品牌标志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0990" y="144780"/>
            <a:ext cx="1456690" cy="14566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9" Type="http://schemas.openxmlformats.org/officeDocument/2006/relationships/tags" Target="../tags/tag27.xml"/><Relationship Id="rId18" Type="http://schemas.openxmlformats.org/officeDocument/2006/relationships/tags" Target="../tags/tag26.xml"/><Relationship Id="rId17" Type="http://schemas.openxmlformats.org/officeDocument/2006/relationships/tags" Target="../tags/tag25.xml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9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jpe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orange"/>
          <p:cNvSpPr/>
          <p:nvPr/>
        </p:nvSpPr>
        <p:spPr>
          <a:xfrm>
            <a:off x="7429500" y="0"/>
            <a:ext cx="4762500" cy="6858000"/>
          </a:xfrm>
          <a:custGeom>
            <a:avLst/>
            <a:gdLst/>
            <a:ahLst/>
            <a:cxnLst/>
            <a:rect l="l" t="t" r="r" b="b"/>
            <a:pathLst>
              <a:path w="4762500" h="6858000">
                <a:moveTo>
                  <a:pt x="0" y="0"/>
                </a:moveTo>
                <a:lnTo>
                  <a:pt x="4762500" y="0"/>
                </a:lnTo>
                <a:lnTo>
                  <a:pt x="4762500" y="6858000"/>
                </a:lnTo>
                <a:lnTo>
                  <a:pt x="219075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cover-slate"/>
          <p:cNvSpPr/>
          <p:nvPr/>
        </p:nvSpPr>
        <p:spPr>
          <a:xfrm>
            <a:off x="6781800" y="0"/>
            <a:ext cx="2838450" cy="6858000"/>
          </a:xfrm>
          <a:custGeom>
            <a:avLst/>
            <a:gdLst/>
            <a:ahLst/>
            <a:cxnLst/>
            <a:rect l="l" t="t" r="r" b="b"/>
            <a:pathLst>
              <a:path w="2838450" h="6858000">
                <a:moveTo>
                  <a:pt x="0" y="0"/>
                </a:moveTo>
                <a:lnTo>
                  <a:pt x="647700" y="0"/>
                </a:lnTo>
                <a:lnTo>
                  <a:pt x="2838450" y="6858000"/>
                </a:lnTo>
                <a:lnTo>
                  <a:pt x="219075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cover-light"/>
          <p:cNvSpPr/>
          <p:nvPr/>
        </p:nvSpPr>
        <p:spPr>
          <a:xfrm>
            <a:off x="6248400" y="0"/>
            <a:ext cx="2381250" cy="6858000"/>
          </a:xfrm>
          <a:custGeom>
            <a:avLst/>
            <a:gdLst/>
            <a:ahLst/>
            <a:cxnLst/>
            <a:rect l="l" t="t" r="r" b="b"/>
            <a:pathLst>
              <a:path w="2381250" h="6858000">
                <a:moveTo>
                  <a:pt x="0" y="0"/>
                </a:moveTo>
                <a:lnTo>
                  <a:pt x="190500" y="0"/>
                </a:lnTo>
                <a:lnTo>
                  <a:pt x="2381250" y="6858000"/>
                </a:lnTo>
                <a:lnTo>
                  <a:pt x="219075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13" name="cover-title"/>
          <p:cNvGrpSpPr/>
          <p:nvPr/>
        </p:nvGrpSpPr>
        <p:grpSpPr>
          <a:xfrm>
            <a:off x="742950" y="2197100"/>
            <a:ext cx="4985258" cy="2948559"/>
            <a:chOff x="742950" y="2197100"/>
            <a:chExt cx="4985258" cy="2948559"/>
          </a:xfrm>
        </p:grpSpPr>
        <p:sp>
          <p:nvSpPr>
            <p:cNvPr id="6" name="TextBox 6"/>
            <p:cNvSpPr txBox="1"/>
            <p:nvPr/>
          </p:nvSpPr>
          <p:spPr>
            <a:xfrm>
              <a:off x="742950" y="2197100"/>
              <a:ext cx="294589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永耐胶水</a:t>
              </a:r>
              <a:endParaRPr lang="zh-CN" sz="5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3048000"/>
              <a:ext cx="3090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spc="4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YONGNAI ADHESIVE</a:t>
              </a:r>
              <a:endParaRPr lang="en-US" sz="1800" spc="4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3632200"/>
              <a:ext cx="320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水性环保胶粘剂 · 中英宣传册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3962400"/>
              <a:ext cx="3924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Water-based Adhesive · Chinese-English Brochure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762000" y="44005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4635500"/>
              <a:ext cx="4938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自有生产线　·　年产能 10,000+ 吨　·　20–1200 kg 全规格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666" y="4940300"/>
              <a:ext cx="4971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In-house production line · 10,000+ tons per year · 20–1200 kg packaging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cover-entity"/>
          <p:cNvGrpSpPr/>
          <p:nvPr/>
        </p:nvGrpSpPr>
        <p:grpSpPr>
          <a:xfrm>
            <a:off x="754380" y="5556250"/>
            <a:ext cx="3717107" cy="503809"/>
            <a:chOff x="754380" y="5556250"/>
            <a:chExt cx="3717107" cy="503809"/>
          </a:xfrm>
        </p:grpSpPr>
        <p:sp>
          <p:nvSpPr>
            <p:cNvPr id="14" name="TextBox 14"/>
            <p:cNvSpPr txBox="1"/>
            <p:nvPr/>
          </p:nvSpPr>
          <p:spPr>
            <a:xfrm>
              <a:off x="754380" y="55562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东莞市永耐环保科技有限公司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666" y="5854700"/>
              <a:ext cx="37148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Dongguan Yongnai Environmental Technology Co., Ltd.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7" name="Rectangle 17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48585" name="TextBox 6"/>
          <p:cNvSpPr txBox="1"/>
          <p:nvPr/>
        </p:nvSpPr>
        <p:spPr>
          <a:xfrm>
            <a:off x="905256" y="1460500"/>
            <a:ext cx="2057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一次接触　永不分离</a:t>
            </a:r>
            <a:endParaRPr lang="zh-CN" sz="1800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586" name="TextBox 7"/>
          <p:cNvSpPr txBox="1"/>
          <p:nvPr/>
        </p:nvSpPr>
        <p:spPr>
          <a:xfrm>
            <a:off x="908304" y="1790700"/>
            <a:ext cx="2960241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en-US" sz="1200" spc="1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ONCE CONTACT, NEVER SEPERATE</a:t>
            </a:r>
            <a:endParaRPr lang="en-US" sz="1200" spc="1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2" name="图片 21" descr="新建项目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1070" y="400685"/>
            <a:ext cx="3048000" cy="1699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O1CN01qwlaXw1m65GInR7sa_!!2217063894904-0-cbucrm.jpg_Q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620" y="1322705"/>
            <a:ext cx="5433060" cy="4074795"/>
          </a:xfrm>
          <a:prstGeom prst="rect">
            <a:avLst/>
          </a:prstGeom>
        </p:spPr>
      </p:pic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公司简介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266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Company Profile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13" name="profile-text"/>
          <p:cNvGrpSpPr/>
          <p:nvPr>
            <p:custDataLst>
              <p:tags r:id="rId2"/>
            </p:custDataLst>
          </p:nvPr>
        </p:nvGrpSpPr>
        <p:grpSpPr>
          <a:xfrm>
            <a:off x="754380" y="1866900"/>
            <a:ext cx="6484620" cy="3085084"/>
            <a:chOff x="754380" y="1866900"/>
            <a:chExt cx="6484620" cy="3085084"/>
          </a:xfrm>
        </p:grpSpPr>
        <p:sp>
          <p:nvSpPr>
            <p:cNvPr id="6" name="TextBox 6"/>
            <p:cNvSpPr txBox="1"/>
            <p:nvPr>
              <p:custDataLst>
                <p:tags r:id="rId3"/>
              </p:custDataLst>
            </p:nvPr>
          </p:nvSpPr>
          <p:spPr>
            <a:xfrm>
              <a:off x="754380" y="1866900"/>
              <a:ext cx="5158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东莞市永耐环保科技有限公司专注水性胶粘剂的生产与销售，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自有厂房与生产线，为家具厂、板材厂、木门厂供货。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>
              <p:custDataLst>
                <p:tags r:id="rId4"/>
              </p:custDataLst>
            </p:nvPr>
          </p:nvSpPr>
          <p:spPr>
            <a:xfrm>
              <a:off x="756666" y="2536825"/>
              <a:ext cx="63952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Dongguan Yongnai focuses on water-based adhesives, with its own plant and production line.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Freeform 8"/>
            <p:cNvSpPr/>
            <p:nvPr>
              <p:custDataLst>
                <p:tags r:id="rId5"/>
              </p:custDataLst>
            </p:nvPr>
          </p:nvSpPr>
          <p:spPr>
            <a:xfrm>
              <a:off x="762000" y="304800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>
              <p:custDataLst>
                <p:tags r:id="rId6"/>
              </p:custDataLst>
            </p:nvPr>
          </p:nvSpPr>
          <p:spPr>
            <a:xfrm>
              <a:off x="754380" y="3200400"/>
              <a:ext cx="5730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产品覆盖白乳胶、拼板胶、黄胶、AB 胶、木皮胶、热熔胶、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青红胶、压板胶与固化剂九个系列，二十公斤到一千二百公斤桶装。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7"/>
              </p:custDataLst>
            </p:nvPr>
          </p:nvSpPr>
          <p:spPr>
            <a:xfrm>
              <a:off x="756666" y="3828415"/>
              <a:ext cx="4637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Nine series covering assembly, lamination, pressing and veneering.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8"/>
              </p:custDataLst>
            </p:nvPr>
          </p:nvSpPr>
          <p:spPr>
            <a:xfrm>
              <a:off x="754380" y="4076700"/>
              <a:ext cx="5158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只做水性体系，非易燃易爆；可按客户基材与验收标准寄样，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样块确认后再谈批量。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>
              <p:custDataLst>
                <p:tags r:id="rId9"/>
              </p:custDataLst>
            </p:nvPr>
          </p:nvSpPr>
          <p:spPr>
            <a:xfrm>
              <a:off x="756666" y="4746625"/>
              <a:ext cx="60089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Water-based only, non-flammable; free samples against your substrate and standard.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27" name="Rectangle 27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453640" cy="892175"/>
            <a:chOff x="746760" y="622300"/>
            <a:chExt cx="24536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生产线与产能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2095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Production Line &amp; Capacity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2" name="capacity-figures"/>
          <p:cNvGrpSpPr/>
          <p:nvPr/>
        </p:nvGrpSpPr>
        <p:grpSpPr>
          <a:xfrm>
            <a:off x="609600" y="1714500"/>
            <a:ext cx="10972800" cy="1524000"/>
            <a:chOff x="609600" y="1714500"/>
            <a:chExt cx="10972800" cy="1524000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257175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1060" y="1955800"/>
              <a:ext cx="11966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4,000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482850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㎡ 自有厂房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787650"/>
              <a:ext cx="701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Own plant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409950" y="1714500"/>
              <a:ext cx="257175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61410" y="1955800"/>
              <a:ext cx="7301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10+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9792" y="24828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台生产设备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71316" y="2787650"/>
              <a:ext cx="1152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Production units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10300" y="1714500"/>
              <a:ext cx="257175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61760" y="1955800"/>
              <a:ext cx="16630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10,000+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70142" y="24828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吨年产量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1666" y="2787650"/>
              <a:ext cx="955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Tons per year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010650" y="1714500"/>
              <a:ext cx="257175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62110" y="1955800"/>
              <a:ext cx="7301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30+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70492" y="24828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吨日产量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72016" y="2787650"/>
              <a:ext cx="8777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Tons per day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flow-steps"/>
          <p:cNvGrpSpPr/>
          <p:nvPr/>
        </p:nvGrpSpPr>
        <p:grpSpPr>
          <a:xfrm>
            <a:off x="752856" y="3810000"/>
            <a:ext cx="10677144" cy="2421509"/>
            <a:chOff x="752856" y="3810000"/>
            <a:chExt cx="10677144" cy="2421509"/>
          </a:xfrm>
        </p:grpSpPr>
        <p:sp>
          <p:nvSpPr>
            <p:cNvPr id="23" name="TextBox 23"/>
            <p:cNvSpPr txBox="1"/>
            <p:nvPr/>
          </p:nvSpPr>
          <p:spPr>
            <a:xfrm>
              <a:off x="755904" y="3810000"/>
              <a:ext cx="23434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生产流程　Production process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62000" y="40767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2856" y="42672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3292" y="4311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原料检验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666" y="4635500"/>
              <a:ext cx="13435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Incoming inspection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48356" y="42672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88792" y="4311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投料反应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52166" y="4635500"/>
              <a:ext cx="1188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Mixing &amp; reaction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43856" y="42672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84292" y="4311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研磨过滤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47666" y="4635500"/>
              <a:ext cx="1322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Grinding &amp; filtering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39356" y="42672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79792" y="4311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灌装封口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43166" y="4635500"/>
              <a:ext cx="10537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Filling &amp; sealing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34856" y="42672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75292" y="4311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入库检验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38666" y="4635500"/>
              <a:ext cx="1081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Final inspection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Freeform 40"/>
            <p:cNvSpPr/>
            <p:nvPr/>
          </p:nvSpPr>
          <p:spPr>
            <a:xfrm>
              <a:off x="762000" y="5143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4380" y="5257800"/>
              <a:ext cx="5730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自有产线与质检环节，让返单更快、批次更稳：常规型号常备库存，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定制订单按排产交付。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6666" y="6026150"/>
              <a:ext cx="5860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In-house production and inspection keep repeat orders fast and batches consistent.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44" name="Rectangle 4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453640" cy="892175"/>
            <a:chOff x="746760" y="622300"/>
            <a:chExt cx="24536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产品六大优势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861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Six Product Advantages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9" name="advantage-list"/>
          <p:cNvGrpSpPr/>
          <p:nvPr>
            <p:custDataLst>
              <p:tags r:id="rId1"/>
            </p:custDataLst>
          </p:nvPr>
        </p:nvGrpSpPr>
        <p:grpSpPr>
          <a:xfrm>
            <a:off x="794766" y="1828800"/>
            <a:ext cx="10677144" cy="4174109"/>
            <a:chOff x="752856" y="1828800"/>
            <a:chExt cx="10677144" cy="4174109"/>
          </a:xfrm>
        </p:grpSpPr>
        <p:sp>
          <p:nvSpPr>
            <p:cNvPr id="6" name="TextBox 6"/>
            <p:cNvSpPr txBox="1"/>
            <p:nvPr>
              <p:custDataLst>
                <p:tags r:id="rId2"/>
              </p:custDataLst>
            </p:nvPr>
          </p:nvSpPr>
          <p:spPr>
            <a:xfrm>
              <a:off x="752856" y="18288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1192530" y="18605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型号全覆盖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194816" y="2159000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九个系列、十七个在售型号，组装、拼板、压板、贴面一次配齐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752856" y="25527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1192530" y="25844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按木种选型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7"/>
              </p:custDataLst>
            </p:nvPr>
          </p:nvSpPr>
          <p:spPr>
            <a:xfrm>
              <a:off x="1194816" y="288290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普通木、高端木、松木软木各有对应型号，不用试错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>
              <p:custDataLst>
                <p:tags r:id="rId8"/>
              </p:custDataLst>
            </p:nvPr>
          </p:nvSpPr>
          <p:spPr>
            <a:xfrm>
              <a:off x="752856" y="32766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1192530" y="33083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固含量分档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1194816" y="3606800"/>
              <a:ext cx="337312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黄胶 45%~50% 与 50%~5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% 两档，按预算与含胶量选择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086856" y="18288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6526530" y="1860550"/>
              <a:ext cx="952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质检可验证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6528816" y="2159000"/>
              <a:ext cx="241490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按水煮 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小时不开裂的验收口径寄样验证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6086856" y="25527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5"/>
              </p:custDataLst>
            </p:nvPr>
          </p:nvSpPr>
          <p:spPr>
            <a:xfrm>
              <a:off x="6526530" y="2584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自有产线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6528816" y="2882900"/>
              <a:ext cx="334137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4,000 ㎡ 厂房、年产一万余吨，返单快、批次稳、库存足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6086856" y="32766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6526530" y="33083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包装灵活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6528816" y="3606800"/>
              <a:ext cx="346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 / 25 / 50 / 220 / 1200 kg 桶装，可做中英文与贴牌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62000" y="4152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4380" y="4298950"/>
              <a:ext cx="66827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胶水是看不见效果的产品，所以我们把选型标准、验收口径与样品都放在前面：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先用你的基材试，再谈价格与批量。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666" y="5073650"/>
              <a:ext cx="72949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Adhesive performance is invisible, so we lead with selection criteria, acceptance standards and samples.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5904" y="552450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水性体系，非易燃易爆；可按需提供产品检测报告。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666" y="5797550"/>
              <a:ext cx="4729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Water-based and non-flammable; test reports available on request.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30" name="Rectangle 3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30" name="Rectangle 3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27664" y="6616700"/>
              <a:ext cx="40767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en-US" alt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" name="page-title"/>
          <p:cNvGrpSpPr/>
          <p:nvPr/>
        </p:nvGrpSpPr>
        <p:grpSpPr>
          <a:xfrm>
            <a:off x="746760" y="622300"/>
            <a:ext cx="2286000" cy="892175"/>
            <a:chOff x="746760" y="622300"/>
            <a:chExt cx="2286000" cy="892175"/>
          </a:xfrm>
        </p:grpSpPr>
        <p:sp>
          <p:nvSpPr>
            <p:cNvPr id="3" name="TextBox 2"/>
            <p:cNvSpPr txBox="1"/>
            <p:nvPr/>
          </p:nvSpPr>
          <p:spPr>
            <a:xfrm>
              <a:off x="746760" y="622300"/>
              <a:ext cx="2286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产品六大特点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55904" y="1143000"/>
              <a:ext cx="1861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Six Product Advantages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9" name="advantage-list"/>
          <p:cNvGrpSpPr/>
          <p:nvPr>
            <p:custDataLst>
              <p:tags r:id="rId1"/>
            </p:custDataLst>
          </p:nvPr>
        </p:nvGrpSpPr>
        <p:grpSpPr>
          <a:xfrm>
            <a:off x="794766" y="1828800"/>
            <a:ext cx="10677144" cy="4174109"/>
            <a:chOff x="752856" y="1828800"/>
            <a:chExt cx="10677144" cy="4174109"/>
          </a:xfrm>
        </p:grpSpPr>
        <p:sp>
          <p:nvSpPr>
            <p:cNvPr id="7" name="TextBox 6"/>
            <p:cNvSpPr txBox="1"/>
            <p:nvPr>
              <p:custDataLst>
                <p:tags r:id="rId2"/>
              </p:custDataLst>
            </p:nvPr>
          </p:nvSpPr>
          <p:spPr>
            <a:xfrm>
              <a:off x="752856" y="18288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1192530" y="1860550"/>
              <a:ext cx="571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环保性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194816" y="2159000"/>
              <a:ext cx="120015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水性环保，安全净味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752856" y="25527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1192530" y="2584450"/>
              <a:ext cx="571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耐候性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1"/>
            <p:cNvSpPr txBox="1"/>
            <p:nvPr>
              <p:custDataLst>
                <p:tags r:id="rId7"/>
              </p:custDataLst>
            </p:nvPr>
          </p:nvSpPr>
          <p:spPr>
            <a:xfrm>
              <a:off x="1194816" y="2882900"/>
              <a:ext cx="5334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耐高低温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>
              <p:custDataLst>
                <p:tags r:id="rId8"/>
              </p:custDataLst>
            </p:nvPr>
          </p:nvSpPr>
          <p:spPr>
            <a:xfrm>
              <a:off x="752856" y="32766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1192530" y="3308350"/>
              <a:ext cx="7620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抗老化性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1194816" y="3606800"/>
              <a:ext cx="10668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二十年胶体不老化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086856" y="18288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6526530" y="1860550"/>
              <a:ext cx="571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耐水性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6528816" y="2159000"/>
              <a:ext cx="241490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按水煮 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小时不开裂的验收口径寄样验证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6086856" y="25527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19"/>
            <p:cNvSpPr txBox="1"/>
            <p:nvPr>
              <p:custDataLst>
                <p:tags r:id="rId15"/>
              </p:custDataLst>
            </p:nvPr>
          </p:nvSpPr>
          <p:spPr>
            <a:xfrm>
              <a:off x="6526530" y="2584450"/>
              <a:ext cx="7620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耐溶剂性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6528816" y="2882900"/>
              <a:ext cx="146685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不与油漆、天那水起反应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6086856" y="32766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6526530" y="3308350"/>
              <a:ext cx="571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阻燃性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6528816" y="3606800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762000" y="4152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5"/>
            <p:cNvSpPr txBox="1"/>
            <p:nvPr/>
          </p:nvSpPr>
          <p:spPr>
            <a:xfrm>
              <a:off x="754380" y="4298950"/>
              <a:ext cx="66827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胶水是看不见效果的产品，所以我们把选型标准、验收口径与样品都放在前面：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先用你的基材试，再谈价格与批量。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56666" y="5073650"/>
              <a:ext cx="72949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Adhesive performance is invisible, so we lead with selection criteria, acceptance standards and samples.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55904" y="552450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水性体系，非易燃易爆；可按需提供产品检测报告。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28"/>
            <p:cNvSpPr txBox="1"/>
            <p:nvPr/>
          </p:nvSpPr>
          <p:spPr>
            <a:xfrm>
              <a:off x="756666" y="5797550"/>
              <a:ext cx="4729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Water-based and non-flammable; test reports available on request.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组装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8380" y="988060"/>
            <a:ext cx="2164715" cy="3041015"/>
          </a:xfrm>
          <a:prstGeom prst="rect">
            <a:avLst/>
          </a:prstGeom>
        </p:spPr>
      </p:pic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524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权威认证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750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Company Qualification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19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6" name="Rectangle 16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33" name="图片 32" descr="白乳胶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665" y="1183640"/>
            <a:ext cx="2164715" cy="3069590"/>
          </a:xfrm>
          <a:prstGeom prst="rect">
            <a:avLst/>
          </a:prstGeom>
        </p:spPr>
      </p:pic>
      <p:pic>
        <p:nvPicPr>
          <p:cNvPr id="34" name="图片 33" descr="黄胶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485" y="2118995"/>
            <a:ext cx="2332355" cy="3297555"/>
          </a:xfrm>
          <a:prstGeom prst="rect">
            <a:avLst/>
          </a:prstGeom>
        </p:spPr>
      </p:pic>
      <p:pic>
        <p:nvPicPr>
          <p:cNvPr id="35" name="图片 34" descr="耐高温压板胶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285" y="1375410"/>
            <a:ext cx="2332990" cy="3293110"/>
          </a:xfrm>
          <a:prstGeom prst="rect">
            <a:avLst/>
          </a:prstGeom>
        </p:spPr>
      </p:pic>
      <p:pic>
        <p:nvPicPr>
          <p:cNvPr id="36" name="图片 35" descr="拼板胶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1375410"/>
            <a:ext cx="2470150" cy="3475990"/>
          </a:xfrm>
          <a:prstGeom prst="rect">
            <a:avLst/>
          </a:prstGeom>
        </p:spPr>
      </p:pic>
      <p:pic>
        <p:nvPicPr>
          <p:cNvPr id="37" name="图片 36" descr="纸塑胶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005" y="1821180"/>
            <a:ext cx="2133600" cy="3015615"/>
          </a:xfrm>
          <a:prstGeom prst="rect">
            <a:avLst/>
          </a:prstGeom>
        </p:spPr>
      </p:pic>
      <p:pic>
        <p:nvPicPr>
          <p:cNvPr id="39" name="图片 38" descr="拼板胶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1875" y="1514475"/>
            <a:ext cx="2141220" cy="3014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5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56" y="109728"/>
            <a:ext cx="658368" cy="658368"/>
          </a:xfrm>
          <a:prstGeom prst="rect">
            <a:avLst/>
          </a:prstGeom>
        </p:spPr>
      </p:pic>
      <p:sp>
        <p:nvSpPr>
          <p:cNvPr id="1048897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57" name="page-title"/>
          <p:cNvGrpSpPr/>
          <p:nvPr/>
        </p:nvGrpSpPr>
        <p:grpSpPr>
          <a:xfrm>
            <a:off x="746760" y="622300"/>
            <a:ext cx="2241864" cy="892175"/>
            <a:chOff x="746760" y="622300"/>
            <a:chExt cx="2241864" cy="892175"/>
          </a:xfrm>
        </p:grpSpPr>
        <p:sp>
          <p:nvSpPr>
            <p:cNvPr id="1048898" name="TextBox 4"/>
            <p:cNvSpPr txBox="1"/>
            <p:nvPr/>
          </p:nvSpPr>
          <p:spPr>
            <a:xfrm>
              <a:off x="746760" y="622300"/>
              <a:ext cx="1524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alt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产品合集</a:t>
              </a:r>
              <a:endParaRPr altLang="en-US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99" name="TextBox 5"/>
            <p:cNvSpPr txBox="1"/>
            <p:nvPr/>
          </p:nvSpPr>
          <p:spPr>
            <a:xfrm>
              <a:off x="755904" y="1143000"/>
              <a:ext cx="223272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Interior Wall Coating Application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0" name="Freeform 6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6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912" name="Rectangle 22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913" name="TextBox 23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14" name="TextBox 24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27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775" y="328295"/>
            <a:ext cx="4864100" cy="55391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65530" y="1836335"/>
            <a:ext cx="4064000" cy="249174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sz="1200" dirty="0">
                <a:solidFill>
                  <a:schemeClr val="dk1"/>
                </a:solidFill>
              </a:rPr>
              <a:t>专业生产环保型水性木工胶一耐候实木拼板胶、组装胶系列产品。它具有非凡的性能:</a:t>
            </a:r>
            <a:endParaRPr lang="zh-CN" sz="1200" dirty="0">
              <a:solidFill>
                <a:schemeClr val="dk1"/>
              </a:solidFill>
            </a:endParaRPr>
          </a:p>
          <a:p>
            <a:pPr algn="l"/>
            <a:endParaRPr lang="zh-CN" sz="1200" dirty="0">
              <a:solidFill>
                <a:schemeClr val="dk1"/>
              </a:solidFill>
            </a:endParaRPr>
          </a:p>
          <a:p>
            <a:pPr algn="l"/>
            <a:r>
              <a:rPr lang="zh-CN" sz="1200" dirty="0">
                <a:solidFill>
                  <a:schemeClr val="dk1"/>
                </a:solidFill>
              </a:rPr>
              <a:t>1、环保性;</a:t>
            </a:r>
            <a:endParaRPr lang="zh-CN" sz="1200" dirty="0">
              <a:solidFill>
                <a:schemeClr val="dk1"/>
              </a:solidFill>
            </a:endParaRPr>
          </a:p>
          <a:p>
            <a:pPr algn="l"/>
            <a:r>
              <a:rPr lang="zh-CN" sz="1200" dirty="0">
                <a:solidFill>
                  <a:schemeClr val="dk1"/>
                </a:solidFill>
              </a:rPr>
              <a:t>2、耐水性;</a:t>
            </a:r>
            <a:endParaRPr lang="zh-CN" sz="1200" dirty="0">
              <a:solidFill>
                <a:schemeClr val="dk1"/>
              </a:solidFill>
            </a:endParaRPr>
          </a:p>
          <a:p>
            <a:pPr algn="l"/>
            <a:r>
              <a:rPr lang="zh-CN" sz="1200" dirty="0">
                <a:solidFill>
                  <a:schemeClr val="dk1"/>
                </a:solidFill>
              </a:rPr>
              <a:t>3、耐候性(耐气候的高温、低温);</a:t>
            </a:r>
            <a:endParaRPr lang="zh-CN" sz="1200" dirty="0">
              <a:solidFill>
                <a:schemeClr val="dk1"/>
              </a:solidFill>
            </a:endParaRPr>
          </a:p>
          <a:p>
            <a:pPr algn="l"/>
            <a:r>
              <a:rPr lang="zh-CN" sz="1200" dirty="0">
                <a:solidFill>
                  <a:schemeClr val="dk1"/>
                </a:solidFill>
              </a:rPr>
              <a:t>4、耐溶剂性(耐天那水);</a:t>
            </a:r>
            <a:endParaRPr lang="zh-CN" sz="1200" dirty="0">
              <a:solidFill>
                <a:schemeClr val="dk1"/>
              </a:solidFill>
            </a:endParaRPr>
          </a:p>
          <a:p>
            <a:pPr algn="l"/>
            <a:r>
              <a:rPr lang="zh-CN" sz="1200" dirty="0">
                <a:solidFill>
                  <a:schemeClr val="dk1"/>
                </a:solidFill>
              </a:rPr>
              <a:t>5、抗老化(20年胶体不老化);</a:t>
            </a:r>
            <a:endParaRPr lang="zh-CN" sz="1200" dirty="0">
              <a:solidFill>
                <a:schemeClr val="dk1"/>
              </a:solidFill>
            </a:endParaRPr>
          </a:p>
          <a:p>
            <a:pPr algn="l"/>
            <a:r>
              <a:rPr lang="zh-CN" sz="1200" dirty="0">
                <a:solidFill>
                  <a:schemeClr val="dk1"/>
                </a:solidFill>
              </a:rPr>
              <a:t>6、阻燃性。</a:t>
            </a:r>
            <a:endParaRPr lang="zh-CN" sz="1200" dirty="0">
              <a:solidFill>
                <a:schemeClr val="dk1"/>
              </a:solidFill>
            </a:endParaRPr>
          </a:p>
          <a:p>
            <a:pPr algn="l"/>
            <a:endParaRPr lang="zh-CN" sz="1200" dirty="0">
              <a:solidFill>
                <a:schemeClr val="dk1"/>
              </a:solidFill>
            </a:endParaRPr>
          </a:p>
          <a:p>
            <a:pPr algn="l"/>
            <a:r>
              <a:rPr lang="zh-CN" sz="1200" dirty="0">
                <a:solidFill>
                  <a:schemeClr val="dk1"/>
                </a:solidFill>
              </a:rPr>
              <a:t>该产品填补了中国水性实木拼板胶耐水和耐候的空白!受到家具行业标准、家具行业协会的有关行家、专家的一致认可，并被荐为家具业实木拼板胶的行业标准!</a:t>
            </a:r>
            <a:endParaRPr lang="zh-CN"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905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组装胶系列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840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PVA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30" name="model-table"/>
          <p:cNvGrpSpPr/>
          <p:nvPr/>
        </p:nvGrpSpPr>
        <p:grpSpPr>
          <a:xfrm>
            <a:off x="609600" y="1835150"/>
            <a:ext cx="6438900" cy="3113659"/>
            <a:chOff x="609600" y="1835150"/>
            <a:chExt cx="6438900" cy="3113659"/>
          </a:xfrm>
        </p:grpSpPr>
        <p:sp>
          <p:nvSpPr>
            <p:cNvPr id="6" name="TextBox 6"/>
            <p:cNvSpPr txBox="1"/>
            <p:nvPr/>
          </p:nvSpPr>
          <p:spPr>
            <a:xfrm>
              <a:off x="756666" y="1835150"/>
              <a:ext cx="722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型号 Model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666" y="1835150"/>
              <a:ext cx="1089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用途 Application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7666" y="1835150"/>
              <a:ext cx="849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包装 Packing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20764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233045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SL-101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8904" y="23241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家具组装、阻力胶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047" y="2559050"/>
              <a:ext cx="12475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Furniture assembly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47666" y="236855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9600" y="28194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142" y="307340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SL-286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8904" y="30670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压板、贴纸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0047" y="3302000"/>
              <a:ext cx="17688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Pressing &amp; paper lamination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7666" y="3111500"/>
              <a:ext cx="32639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" y="35623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142" y="381635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SL-360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8904" y="381000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家具组装、45° 组装胶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0047" y="4044950"/>
              <a:ext cx="13676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Assembly &amp; 45° joints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7666" y="385445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9600" y="43053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666" y="4495800"/>
              <a:ext cx="5591366" cy="453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水性单组分，非易燃易爆；建议 5℃ 以上施工，木材含水率 8%~12%。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Water-based one-component, non-flammable; apply above 5°C, wood moisture 8–12%.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41" name="Rectangle 41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9" name="图片 8" descr="组立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9780" y="1143000"/>
            <a:ext cx="4676140" cy="3806190"/>
          </a:xfrm>
          <a:prstGeom prst="rect">
            <a:avLst/>
          </a:prstGeom>
        </p:spPr>
      </p:pic>
      <p:sp>
        <p:nvSpPr>
          <p:cNvPr id="1048891" name="object 17"/>
          <p:cNvSpPr txBox="1"/>
          <p:nvPr/>
        </p:nvSpPr>
        <p:spPr>
          <a:xfrm>
            <a:off x="6893560" y="5394325"/>
            <a:ext cx="280860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lang="en-US" altLang="zh-CN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  <a:sym typeface="+mn-ea"/>
              </a:rPr>
              <a:t>1000KG</a:t>
            </a:r>
            <a:endParaRPr lang="en-US" altLang="zh-CN" sz="1200" spc="-25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拼板胶系列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4031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Lamination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36" name="model-table"/>
          <p:cNvGrpSpPr/>
          <p:nvPr/>
        </p:nvGrpSpPr>
        <p:grpSpPr>
          <a:xfrm>
            <a:off x="609600" y="1835150"/>
            <a:ext cx="6471857" cy="3640709"/>
            <a:chOff x="609600" y="1835150"/>
            <a:chExt cx="6471857" cy="3640709"/>
          </a:xfrm>
        </p:grpSpPr>
        <p:sp>
          <p:nvSpPr>
            <p:cNvPr id="6" name="TextBox 6"/>
            <p:cNvSpPr txBox="1"/>
            <p:nvPr/>
          </p:nvSpPr>
          <p:spPr>
            <a:xfrm>
              <a:off x="756666" y="1835150"/>
              <a:ext cx="722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型号 Model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666" y="1835150"/>
              <a:ext cx="1513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适用木种 Wood species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7666" y="1835150"/>
              <a:ext cx="849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包装 Packing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20764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229235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SL-111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8904" y="2286000"/>
              <a:ext cx="762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软木、杂木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047" y="2520950"/>
              <a:ext cx="1617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Hardwood &amp; common wood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47666" y="233045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9600" y="27813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142" y="299720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SL-112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8904" y="2990850"/>
              <a:ext cx="457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硬杂木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0047" y="3225800"/>
              <a:ext cx="8983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Premium wood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7666" y="303530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" y="34861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142" y="370205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SL-113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8904" y="3695700"/>
              <a:ext cx="257048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硬木、油木、高端木（性能优于 112）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0047" y="3930650"/>
              <a:ext cx="227703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Premium wood, higher performance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7666" y="374015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9600" y="41910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142" y="440690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SL-201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98904" y="44005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松木、软木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00047" y="4635500"/>
              <a:ext cx="10305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Pine &amp; softwood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7666" y="444500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09600" y="48958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6666" y="5041900"/>
              <a:ext cx="6324791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可按客户基材与验收标准寄样，例如 65℃ 水煮 3 小时胶层不开裂。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Samples tested against your substrate and standard, e.g. 3 h boil at 65°C without delamination.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50" name="Rectangle 5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15" name="图片 14" descr="111拼板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0050" y="1504950"/>
            <a:ext cx="4892040" cy="3982085"/>
          </a:xfrm>
          <a:prstGeom prst="rect">
            <a:avLst/>
          </a:prstGeom>
        </p:spPr>
      </p:pic>
      <p:sp>
        <p:nvSpPr>
          <p:cNvPr id="1048891" name="object 17"/>
          <p:cNvSpPr txBox="1"/>
          <p:nvPr/>
        </p:nvSpPr>
        <p:spPr>
          <a:xfrm>
            <a:off x="6893560" y="5394325"/>
            <a:ext cx="280860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lang="en-US" altLang="zh-CN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  <a:sym typeface="+mn-ea"/>
              </a:rPr>
              <a:t>1000KG</a:t>
            </a:r>
            <a:endParaRPr lang="en-US" altLang="zh-CN" sz="1200" spc="-25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组装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7270" y="1641475"/>
            <a:ext cx="4320540" cy="3516630"/>
          </a:xfrm>
          <a:prstGeom prst="rect">
            <a:avLst/>
          </a:prstGeom>
        </p:spPr>
      </p:pic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黄胶系列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416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Yellow Glue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6" name="model-table"/>
          <p:cNvGrpSpPr/>
          <p:nvPr/>
        </p:nvGrpSpPr>
        <p:grpSpPr>
          <a:xfrm>
            <a:off x="609600" y="1641475"/>
            <a:ext cx="6438900" cy="4402941"/>
            <a:chOff x="609600" y="1835150"/>
            <a:chExt cx="6438900" cy="3390826"/>
          </a:xfrm>
        </p:grpSpPr>
        <p:sp>
          <p:nvSpPr>
            <p:cNvPr id="6" name="TextBox 6"/>
            <p:cNvSpPr txBox="1"/>
            <p:nvPr/>
          </p:nvSpPr>
          <p:spPr>
            <a:xfrm>
              <a:off x="756666" y="1835150"/>
              <a:ext cx="722224" cy="124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型号 Model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666" y="1835150"/>
              <a:ext cx="1386240" cy="124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固含量 Solid content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7666" y="1835150"/>
              <a:ext cx="849097" cy="124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包装 Packing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20764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2705408"/>
              <a:ext cx="679079" cy="1599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SL-740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8904" y="2699058"/>
              <a:ext cx="698754" cy="1418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45%~50%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047" y="2934008"/>
              <a:ext cx="997046" cy="1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Standard grade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47666" y="2743508"/>
              <a:ext cx="752761" cy="124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9600" y="3159618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142" y="3282950"/>
              <a:ext cx="679079" cy="1599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SL-750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8904" y="3276600"/>
              <a:ext cx="698754" cy="1418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50%~55%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0047" y="3511550"/>
              <a:ext cx="1009987" cy="1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High solid grade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7666" y="3321050"/>
              <a:ext cx="752761" cy="124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" y="37909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904" y="4038600"/>
              <a:ext cx="4750613" cy="1418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固含量是型号差异的核心指标　Solid content defines the grade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142" y="4298950"/>
              <a:ext cx="4471416" cy="444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含胶量越高，单位重量的有效成分越多，价格档位也越高。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客户可以按预算与用胶量选档。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666" y="4870450"/>
              <a:ext cx="4277868" cy="3555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Higher solid content means more effective material per kilogram.</a:t>
              </a:r>
              <a:b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Choose the grade by budget and consumption.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34" name="Rectangle 3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" name="TextBox 17"/>
          <p:cNvSpPr txBox="1"/>
          <p:nvPr/>
        </p:nvSpPr>
        <p:spPr>
          <a:xfrm>
            <a:off x="783717" y="2054225"/>
            <a:ext cx="561975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SL-730</a:t>
            </a:r>
            <a:endParaRPr lang="en-US" sz="13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TextBox 18"/>
          <p:cNvSpPr txBox="1"/>
          <p:nvPr/>
        </p:nvSpPr>
        <p:spPr>
          <a:xfrm>
            <a:off x="1977009" y="2055495"/>
            <a:ext cx="69723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</a:t>
            </a:r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0%~</a:t>
            </a:r>
            <a:r>
              <a:rPr lang="en-US" alt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</a:t>
            </a:r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5%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TextBox 19"/>
          <p:cNvSpPr txBox="1"/>
          <p:nvPr/>
        </p:nvSpPr>
        <p:spPr>
          <a:xfrm>
            <a:off x="1978152" y="2290445"/>
            <a:ext cx="100998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High solid grade</a:t>
            </a:r>
            <a:endParaRPr lang="en-US" sz="98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TextBox 20"/>
          <p:cNvSpPr txBox="1"/>
          <p:nvPr/>
        </p:nvSpPr>
        <p:spPr>
          <a:xfrm>
            <a:off x="4934966" y="2071370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20–1200 kg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Freeform 22"/>
          <p:cNvSpPr/>
          <p:nvPr/>
        </p:nvSpPr>
        <p:spPr>
          <a:xfrm>
            <a:off x="596900" y="2667635"/>
            <a:ext cx="6438900" cy="9525"/>
          </a:xfrm>
          <a:custGeom>
            <a:avLst/>
            <a:gdLst/>
            <a:ahLst/>
            <a:cxnLst/>
            <a:rect l="l" t="t" r="r" b="b"/>
            <a:pathLst>
              <a:path w="6438900" h="9525">
                <a:moveTo>
                  <a:pt x="0" y="0"/>
                </a:moveTo>
                <a:lnTo>
                  <a:pt x="64389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6"/>
            </a:solidFill>
          </a:ln>
        </p:spPr>
      </p:sp>
      <p:sp>
        <p:nvSpPr>
          <p:cNvPr id="1048891" name="object 17"/>
          <p:cNvSpPr txBox="1"/>
          <p:nvPr/>
        </p:nvSpPr>
        <p:spPr>
          <a:xfrm>
            <a:off x="6893560" y="5394325"/>
            <a:ext cx="280860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lang="en-US" altLang="zh-CN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  <a:sym typeface="+mn-ea"/>
              </a:rPr>
              <a:t>1000KG</a:t>
            </a:r>
            <a:endParaRPr lang="en-US" altLang="zh-CN" sz="1200" spc="-25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/>
        </p:nvPicPr>
        <p:blipFill>
          <a:blip r:embed="rId1"/>
          <a:stretch>
            <a:fillRect/>
          </a:stretch>
        </p:blipFill>
        <p:spPr>
          <a:xfrm>
            <a:off x="7527925" y="3493770"/>
            <a:ext cx="3026410" cy="2529205"/>
          </a:xfrm>
          <a:prstGeom prst="rect">
            <a:avLst/>
          </a:prstGeom>
        </p:spPr>
      </p:pic>
      <p:pic>
        <p:nvPicPr>
          <p:cNvPr id="9" name="图片 8" descr="铁胶，AB胶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135" y="1514475"/>
            <a:ext cx="3221990" cy="2622550"/>
          </a:xfrm>
          <a:prstGeom prst="rect">
            <a:avLst/>
          </a:prstGeom>
        </p:spPr>
      </p:pic>
      <p:grpSp>
        <p:nvGrpSpPr>
          <p:cNvPr id="5" name="page-title"/>
          <p:cNvGrpSpPr/>
          <p:nvPr/>
        </p:nvGrpSpPr>
        <p:grpSpPr>
          <a:xfrm>
            <a:off x="746760" y="622300"/>
            <a:ext cx="2682240" cy="892175"/>
            <a:chOff x="746760" y="622300"/>
            <a:chExt cx="26822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03695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AB 胶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2244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AB Glue &amp; Structural Bonding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30" name="model-table"/>
          <p:cNvGrpSpPr/>
          <p:nvPr/>
        </p:nvGrpSpPr>
        <p:grpSpPr>
          <a:xfrm>
            <a:off x="609600" y="1835150"/>
            <a:ext cx="6438900" cy="3113659"/>
            <a:chOff x="609600" y="1835150"/>
            <a:chExt cx="6438900" cy="3113659"/>
          </a:xfrm>
        </p:grpSpPr>
        <p:sp>
          <p:nvSpPr>
            <p:cNvPr id="6" name="TextBox 6"/>
            <p:cNvSpPr txBox="1"/>
            <p:nvPr/>
          </p:nvSpPr>
          <p:spPr>
            <a:xfrm>
              <a:off x="756666" y="1835150"/>
              <a:ext cx="722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型号 Model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666" y="1835150"/>
              <a:ext cx="15130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用途与节拍 Application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7666" y="1835150"/>
              <a:ext cx="849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包装 Packing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20764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233045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SL-901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8904" y="2324100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组装胶，4 小时后可进下道工序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047" y="2559050"/>
              <a:ext cx="12566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h to next process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47666" y="2368550"/>
              <a:ext cx="590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kg / 组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9600" y="28194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142" y="307340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SL-902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8904" y="3067050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组装胶，2 小时后可进下道工序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0047" y="3302000"/>
              <a:ext cx="12566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h to next process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7666" y="3111500"/>
              <a:ext cx="590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kg / 组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" y="35623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142" y="381635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SL-518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8904" y="38100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青红胶，大理石粘接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0047" y="4044950"/>
              <a:ext cx="9572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Marble bonding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7666" y="3854450"/>
              <a:ext cx="590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kg / 组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9600" y="43053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666" y="4495800"/>
              <a:ext cx="4131183" cy="453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双组分按配比混合使用；赶节拍选 902，需要更长可操作时间选 901。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Two-component system; choose by the time your line needs.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41" name="Rectangle 41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48891" name="object 17"/>
          <p:cNvSpPr txBox="1"/>
          <p:nvPr/>
        </p:nvSpPr>
        <p:spPr>
          <a:xfrm>
            <a:off x="6893560" y="5394325"/>
            <a:ext cx="280860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lang="en-US" altLang="zh-CN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  <a:sym typeface="+mn-ea"/>
              </a:rPr>
              <a:t>1000KG</a:t>
            </a:r>
            <a:endParaRPr lang="en-US" altLang="zh-CN" sz="1200" spc="-25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4640542" cy="892175"/>
            <a:chOff x="746760" y="622300"/>
            <a:chExt cx="4640542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46405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木皮胶 · 热熔胶 · 固化剂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2718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Veneer Glue · Hot-melt · Hardener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36" name="model-table"/>
          <p:cNvGrpSpPr/>
          <p:nvPr/>
        </p:nvGrpSpPr>
        <p:grpSpPr>
          <a:xfrm>
            <a:off x="609600" y="1835150"/>
            <a:ext cx="6438900" cy="3668395"/>
            <a:chOff x="609600" y="1835150"/>
            <a:chExt cx="6438900" cy="3668395"/>
          </a:xfrm>
        </p:grpSpPr>
        <p:sp>
          <p:nvSpPr>
            <p:cNvPr id="6" name="TextBox 6"/>
            <p:cNvSpPr txBox="1"/>
            <p:nvPr/>
          </p:nvSpPr>
          <p:spPr>
            <a:xfrm>
              <a:off x="756666" y="1835150"/>
              <a:ext cx="722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型号 Model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666" y="1835150"/>
              <a:ext cx="1089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用途 Application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7666" y="1835150"/>
              <a:ext cx="849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包装 Packing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20764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227330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SL-128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8904" y="22669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热压高温贴木皮胶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047" y="2501900"/>
              <a:ext cx="14392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Hot-press veneer glue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47666" y="2311400"/>
              <a:ext cx="57023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kg / 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9600" y="27622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142" y="2978150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SL-4350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8904" y="29718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高温热熔胶粒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0047" y="3206750"/>
              <a:ext cx="17558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High-temp hot-melt pellets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7666" y="3016250"/>
              <a:ext cx="57023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sz="1050" dirty="0">
                  <a:solidFill>
                    <a:schemeClr val="accent5"/>
                  </a:solidFill>
                  <a:sym typeface="+mn-ea"/>
                </a:rPr>
                <a:t>2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5</a:t>
              </a:r>
              <a:r>
                <a:rPr sz="1050" dirty="0">
                  <a:solidFill>
                    <a:schemeClr val="accent5"/>
                  </a:solidFill>
                  <a:sym typeface="+mn-ea"/>
                </a:rPr>
                <a:t> kg / 包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" y="34671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142" y="3683000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SL-4360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8904" y="36766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中温热熔胶粒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0047" y="3911600"/>
              <a:ext cx="17097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Mid-temp hot-melt pellets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7666" y="3721100"/>
              <a:ext cx="57023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kg / 包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9600" y="41719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142" y="4387850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PH-7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98904" y="43815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固化剂（架桥剂）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00047" y="4616450"/>
              <a:ext cx="15514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Hardener / cross-linker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7666" y="44259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按包装另议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09600" y="48768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6666" y="5041900"/>
              <a:ext cx="540829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PH-7 为德国进口架桥剂，价格随行就市，报价前确认当期价格；添加比例按型号工艺执行。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Imported cross-linker, price subject to market; dosage follows the process sheet.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50" name="Rectangle 5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9" name="图片 8" descr="热熔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8030" y="1747520"/>
            <a:ext cx="3932555" cy="3201035"/>
          </a:xfrm>
          <a:prstGeom prst="rect">
            <a:avLst/>
          </a:prstGeom>
        </p:spPr>
      </p:pic>
      <p:sp>
        <p:nvSpPr>
          <p:cNvPr id="1048891" name="object 17"/>
          <p:cNvSpPr txBox="1"/>
          <p:nvPr/>
        </p:nvSpPr>
        <p:spPr>
          <a:xfrm>
            <a:off x="6893560" y="5394325"/>
            <a:ext cx="2808605" cy="196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lang="en-US" altLang="zh-CN" sz="1200" spc="-25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crosoft JhengHei" panose="020B0604030504040204" charset="-120"/>
                <a:sym typeface="+mn-ea"/>
              </a:rPr>
              <a:t>1000KG</a:t>
            </a:r>
            <a:endParaRPr lang="en-US" altLang="zh-CN" sz="1200" spc="-25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crosoft JhengHei" panose="020B0604030504040204" charset="-12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施胶工艺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548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Application Process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32" name="process-table"/>
          <p:cNvGrpSpPr/>
          <p:nvPr/>
        </p:nvGrpSpPr>
        <p:grpSpPr>
          <a:xfrm>
            <a:off x="609600" y="1714500"/>
            <a:ext cx="10972800" cy="2712593"/>
            <a:chOff x="609600" y="1714500"/>
            <a:chExt cx="10972800" cy="2712593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109728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182880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613404" y="18288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手工刷胶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80404" y="182880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滚筒 / 刮板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37904" y="182880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机械辊涂 / 淋涂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866" y="23114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涂胶均匀性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14166" y="23114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依赖手感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1166" y="23114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较均匀，可控制胶层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38666" y="23114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均匀，可稳定复制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09600" y="259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2866" y="28067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用胶量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4166" y="2806700"/>
              <a:ext cx="1077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偏高约 10%~20%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81166" y="28067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较低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38666" y="28067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最低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096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2866" y="33020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效率与投入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14166" y="33020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效率低，投入低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1166" y="33020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效率中，投入低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38666" y="33020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效率高，投入高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09600" y="3581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2866" y="37973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适用场景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4166" y="37973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小批量、异形件、修补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1166" y="37973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平面板材、中等批量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38666" y="37973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大批量平板、封边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09600" y="4076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3247" y="4235450"/>
              <a:ext cx="360313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Uniformity · Consumption · Efficiency · Suitable volume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material-match"/>
          <p:cNvGrpSpPr/>
          <p:nvPr/>
        </p:nvGrpSpPr>
        <p:grpSpPr>
          <a:xfrm>
            <a:off x="602742" y="4838700"/>
            <a:ext cx="6455595" cy="1278509"/>
            <a:chOff x="602742" y="4838700"/>
            <a:chExt cx="6455595" cy="1278509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4838700"/>
              <a:ext cx="25941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按基材选胶　Choose by substrate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2742" y="5124450"/>
              <a:ext cx="6340221" cy="568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普通木 → SL-111　　·　　高端木 → SL-112 / SL-113　　·　　松木软木 → SL-201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压板贴纸 → SL-286　　·　　贴木皮 → SL-128　　·　　石材 → SL-518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4266" y="5911850"/>
              <a:ext cx="6454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胶合强度对涂胶均匀性最敏感，建议用称重法抽检 g/m²。　Uniform coating weight matters most.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37" name="Rectangle 37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定制与贴牌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658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Customization &amp; OEM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4" name="custom-cards"/>
          <p:cNvGrpSpPr/>
          <p:nvPr/>
        </p:nvGrpSpPr>
        <p:grpSpPr>
          <a:xfrm>
            <a:off x="609600" y="1905000"/>
            <a:ext cx="10972800" cy="3143250"/>
            <a:chOff x="609600" y="1905000"/>
            <a:chExt cx="10972800" cy="3143250"/>
          </a:xfrm>
        </p:grpSpPr>
        <p:sp>
          <p:nvSpPr>
            <p:cNvPr id="6" name="Rectangle 6"/>
            <p:cNvSpPr/>
            <p:nvPr/>
          </p:nvSpPr>
          <p:spPr>
            <a:xfrm>
              <a:off x="609600" y="1905000"/>
              <a:ext cx="3429000" cy="3143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5256" y="21844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包装定制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9066" y="2501900"/>
              <a:ext cx="6791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Packaging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914400" y="27813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8304" y="2940050"/>
              <a:ext cx="201625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 / 25 / 50 / 220 / 1200 kg</a:t>
              </a:r>
              <a:b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五种桶装规格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 胶与青红胶为 2 kg/组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9066" y="3930650"/>
              <a:ext cx="182422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Five drum sizes; AB glue and</a:t>
              </a:r>
              <a:b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epoxy packed 2 kg/set.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905000"/>
              <a:ext cx="3429000" cy="3143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77156" y="21844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标签与贴牌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80966" y="2501900"/>
              <a:ext cx="14051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Label &amp; Private label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686300" y="27813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80204" y="2940050"/>
              <a:ext cx="15361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中英文包装可做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客户品牌桶与标签可做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适合贸易商与自有品牌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80966" y="3930650"/>
              <a:ext cx="171754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Bilingual packaging and</a:t>
              </a:r>
              <a:b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customer-branded drums.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153400" y="1905000"/>
              <a:ext cx="3429000" cy="3143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49056" y="21844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配方调整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2866" y="2501900"/>
              <a:ext cx="827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Formulation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8458200" y="27813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52104" y="2940050"/>
              <a:ext cx="18409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按客户基材与工艺调整配方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起订量、加价与交期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按项目确认后报价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52866" y="3930650"/>
              <a:ext cx="20109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Adjusted to your substrate;</a:t>
              </a:r>
              <a:b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MOQ and lead time on request.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custom-note"/>
          <p:cNvGrpSpPr/>
          <p:nvPr/>
        </p:nvGrpSpPr>
        <p:grpSpPr>
          <a:xfrm>
            <a:off x="602742" y="5372100"/>
            <a:ext cx="10979658" cy="687959"/>
            <a:chOff x="602742" y="5372100"/>
            <a:chExt cx="10979658" cy="687959"/>
          </a:xfrm>
        </p:grpSpPr>
        <p:sp>
          <p:nvSpPr>
            <p:cNvPr id="25" name="Freeform 25"/>
            <p:cNvSpPr/>
            <p:nvPr/>
          </p:nvSpPr>
          <p:spPr>
            <a:xfrm>
              <a:off x="609600" y="5372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2742" y="5549900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标准型号按目录价直接下单；定制项确认包装、标签与配方后出具正式报价单。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4266" y="5854700"/>
              <a:ext cx="80794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Standard models ship at list price; customized orders are quoted after confirming packaging, label and formulation.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29" name="Rectangle 29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寄样与打样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595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Free Samples &amp; Trial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0" name="sample-steps"/>
          <p:cNvGrpSpPr/>
          <p:nvPr/>
        </p:nvGrpSpPr>
        <p:grpSpPr>
          <a:xfrm>
            <a:off x="746760" y="1993900"/>
            <a:ext cx="10683240" cy="1970659"/>
            <a:chOff x="746760" y="1993900"/>
            <a:chExt cx="10683240" cy="1970659"/>
          </a:xfrm>
        </p:grpSpPr>
        <p:sp>
          <p:nvSpPr>
            <p:cNvPr id="6" name="TextBox 6"/>
            <p:cNvSpPr txBox="1"/>
            <p:nvPr/>
          </p:nvSpPr>
          <p:spPr>
            <a:xfrm>
              <a:off x="746760" y="19939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4380" y="26035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你告诉我们工况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6666" y="2863850"/>
              <a:ext cx="9441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基材、涂胶方式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与验收标准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13760" y="19939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21380" y="2603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我们寄样给你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23666" y="2863850"/>
              <a:ext cx="8107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按型号寄样品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与技术资料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80760" y="19939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88380" y="26035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你上机试胶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90666" y="2863850"/>
              <a:ext cx="10774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用你的基材与设备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做样块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47760" y="19939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55380" y="2603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合格再谈批量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57666" y="2863850"/>
              <a:ext cx="9441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确认型号、价格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与交期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62000" y="3543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6666" y="3759200"/>
              <a:ext cx="72567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Step 1: tell us your substrate · Step 2: we send samples · Step 3: you run a trial · Step 4: volume order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sample-note"/>
          <p:cNvGrpSpPr/>
          <p:nvPr/>
        </p:nvGrpSpPr>
        <p:grpSpPr>
          <a:xfrm>
            <a:off x="754380" y="4184650"/>
            <a:ext cx="7444740" cy="1703959"/>
            <a:chOff x="754380" y="4184650"/>
            <a:chExt cx="7444740" cy="1703959"/>
          </a:xfrm>
        </p:grpSpPr>
        <p:sp>
          <p:nvSpPr>
            <p:cNvPr id="21" name="TextBox 21"/>
            <p:cNvSpPr txBox="1"/>
            <p:nvPr/>
          </p:nvSpPr>
          <p:spPr>
            <a:xfrm>
              <a:off x="754380" y="4184650"/>
              <a:ext cx="74447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样品由我们寄出，不需要你先寄基材；如果基材特殊，也可以同步寄一小块给我们试配。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常用验收口径：涂胶后 65℃ 水煮 3 小时，胶层不开裂。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6666" y="4908550"/>
              <a:ext cx="6098096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Samples are sent by us — no need to ship substrate first. Typical acceptance: 3 h boil at 65°C</a:t>
              </a:r>
              <a:b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without delamination.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62000" y="55054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22604" y="541020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寄样与试胶不收费，运输方式按地区协商。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3366" y="5683250"/>
              <a:ext cx="3231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Sampling and trial support are free of charge.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27" name="Rectangle 27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推广矩阵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387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Promotion Matrix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2" name="matrix-domestic"/>
          <p:cNvGrpSpPr/>
          <p:nvPr/>
        </p:nvGrpSpPr>
        <p:grpSpPr>
          <a:xfrm>
            <a:off x="755904" y="1828800"/>
            <a:ext cx="4959096" cy="4078859"/>
            <a:chOff x="755904" y="1828800"/>
            <a:chExt cx="4959096" cy="4078859"/>
          </a:xfrm>
        </p:grpSpPr>
        <p:sp>
          <p:nvSpPr>
            <p:cNvPr id="6" name="TextBox 6"/>
            <p:cNvSpPr txBox="1"/>
            <p:nvPr/>
          </p:nvSpPr>
          <p:spPr>
            <a:xfrm>
              <a:off x="755904" y="18288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国内阵地</a:t>
              </a:r>
              <a:endPara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Freeform 7"/>
            <p:cNvSpPr/>
            <p:nvPr/>
          </p:nvSpPr>
          <p:spPr>
            <a:xfrm>
              <a:off x="762000" y="2095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666" y="2235200"/>
              <a:ext cx="1555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企业官网　Website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6666" y="2501900"/>
              <a:ext cx="1202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百度　Search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666" y="2768600"/>
              <a:ext cx="1006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1688　B2B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666" y="3035300"/>
              <a:ext cx="1570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　淘宝　E-commerce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666" y="3302000"/>
              <a:ext cx="1570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　京东　E-commerce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666" y="3568700"/>
              <a:ext cx="1712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　拼多多　E-commerce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666" y="3835400"/>
              <a:ext cx="1520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07　抖音　Short video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666" y="4102100"/>
              <a:ext cx="16618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08　视频号　Short video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4368800"/>
              <a:ext cx="1555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09　微信公众号　Social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666" y="4635500"/>
              <a:ext cx="12724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　小红书　Social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666" y="4902200"/>
              <a:ext cx="1007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　知乎　Q&amp;A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666" y="5168900"/>
              <a:ext cx="1421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　百家号　Content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666" y="5435600"/>
              <a:ext cx="1371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　哔哩哔哩　Video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6666" y="5702300"/>
              <a:ext cx="1131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　微博　Social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matrix-overseas"/>
          <p:cNvGrpSpPr/>
          <p:nvPr/>
        </p:nvGrpSpPr>
        <p:grpSpPr>
          <a:xfrm>
            <a:off x="6280404" y="1828800"/>
            <a:ext cx="4959096" cy="4269359"/>
            <a:chOff x="6280404" y="1828800"/>
            <a:chExt cx="4959096" cy="4269359"/>
          </a:xfrm>
        </p:grpSpPr>
        <p:sp>
          <p:nvSpPr>
            <p:cNvPr id="23" name="TextBox 23"/>
            <p:cNvSpPr txBox="1"/>
            <p:nvPr/>
          </p:nvSpPr>
          <p:spPr>
            <a:xfrm>
              <a:off x="6280404" y="18288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跨境阵地</a:t>
              </a:r>
              <a:endPara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286500" y="2095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1166" y="2235200"/>
              <a:ext cx="1354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　Google　Search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81166" y="2501900"/>
              <a:ext cx="1787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　Amazon　E-commerce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81166" y="2768600"/>
              <a:ext cx="11726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17　Alibaba　B2B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1166" y="3035300"/>
              <a:ext cx="1686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　Global Sources　B2B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81166" y="3302000"/>
              <a:ext cx="1474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　Facebook　Social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81166" y="3568700"/>
              <a:ext cx="1545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　Instagram　Social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81166" y="3835400"/>
              <a:ext cx="16888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　LinkedIn　B2B social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81166" y="4102100"/>
              <a:ext cx="13592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22　YouTube　Video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81166" y="4368800"/>
              <a:ext cx="1677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　TikTok　Short video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81166" y="4635500"/>
              <a:ext cx="1543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24　WhatsApp　Direct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286500" y="5143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1166" y="535940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图文与视频双线发布，国内与跨境同步更新；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81166" y="560705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产品资料、施工视频与客户案例为主要内容。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81166" y="5892800"/>
              <a:ext cx="3372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Content across domestic and overseas channels.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40" name="Rectangle 4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21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orange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0" y="0"/>
                </a:moveTo>
                <a:lnTo>
                  <a:pt x="2857500" y="0"/>
                </a:lnTo>
                <a:lnTo>
                  <a:pt x="2857500" y="6858000"/>
                </a:lnTo>
                <a:lnTo>
                  <a:pt x="133350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grpSp>
        <p:nvGrpSpPr>
          <p:cNvPr id="20" name="closing-note"/>
          <p:cNvGrpSpPr/>
          <p:nvPr/>
        </p:nvGrpSpPr>
        <p:grpSpPr>
          <a:xfrm>
            <a:off x="7805166" y="5549900"/>
            <a:ext cx="1477518" cy="624459"/>
            <a:chOff x="7805166" y="5549900"/>
            <a:chExt cx="1477518" cy="624459"/>
          </a:xfrm>
        </p:grpSpPr>
        <p:sp>
          <p:nvSpPr>
            <p:cNvPr id="18" name="TextBox 18"/>
            <p:cNvSpPr txBox="1"/>
            <p:nvPr/>
          </p:nvSpPr>
          <p:spPr>
            <a:xfrm>
              <a:off x="7805166" y="55499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报价说明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05166" y="5759450"/>
              <a:ext cx="14775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本册为对外参考报价，</a:t>
              </a:r>
              <a:b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以下单当期报价单为准。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9270" y="3225800"/>
            <a:ext cx="1464310" cy="1462405"/>
          </a:xfrm>
          <a:prstGeom prst="rect">
            <a:avLst/>
          </a:prstGeom>
        </p:spPr>
      </p:pic>
      <p:grpSp>
        <p:nvGrpSpPr>
          <p:cNvPr id="322" name="back-title"/>
          <p:cNvGrpSpPr/>
          <p:nvPr/>
        </p:nvGrpSpPr>
        <p:grpSpPr>
          <a:xfrm>
            <a:off x="895350" y="1276350"/>
            <a:ext cx="2973195" cy="1187450"/>
            <a:chOff x="895350" y="1276350"/>
            <a:chExt cx="2973195" cy="1187450"/>
          </a:xfrm>
        </p:grpSpPr>
        <p:sp>
          <p:nvSpPr>
            <p:cNvPr id="1049394" name="TextBox 8"/>
            <p:cNvSpPr txBox="1"/>
            <p:nvPr/>
          </p:nvSpPr>
          <p:spPr>
            <a:xfrm>
              <a:off x="908304" y="1276350"/>
              <a:ext cx="954088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CONTACT</a:t>
              </a:r>
              <a:endParaRPr lang="en-US" sz="1200" spc="3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95" name="TextBox 9"/>
            <p:cNvSpPr txBox="1"/>
            <p:nvPr/>
          </p:nvSpPr>
          <p:spPr>
            <a:xfrm>
              <a:off x="895350" y="1606550"/>
              <a:ext cx="2133600" cy="622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联系我们</a:t>
              </a:r>
              <a:endParaRPr lang="zh-CN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96" name="TextBox 10"/>
            <p:cNvSpPr txBox="1"/>
            <p:nvPr/>
          </p:nvSpPr>
          <p:spPr>
            <a:xfrm>
              <a:off x="908304" y="2286000"/>
              <a:ext cx="2960241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spc="1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ONCE CONTACT, NEVER SEPERATE</a:t>
              </a:r>
              <a:endParaRPr lang="en-US" sz="1200" spc="15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3" name="back-contact"/>
          <p:cNvGrpSpPr/>
          <p:nvPr/>
        </p:nvGrpSpPr>
        <p:grpSpPr>
          <a:xfrm>
            <a:off x="905256" y="3048000"/>
            <a:ext cx="2078355" cy="2224405"/>
            <a:chOff x="905256" y="3048000"/>
            <a:chExt cx="2078355" cy="2224405"/>
          </a:xfrm>
        </p:grpSpPr>
        <p:sp>
          <p:nvSpPr>
            <p:cNvPr id="1049397" name="TextBox 12"/>
            <p:cNvSpPr txBox="1"/>
            <p:nvPr/>
          </p:nvSpPr>
          <p:spPr>
            <a:xfrm>
              <a:off x="908304" y="3048000"/>
              <a:ext cx="76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品牌创始人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98" name="TextBox 13"/>
            <p:cNvSpPr txBox="1"/>
            <p:nvPr/>
          </p:nvSpPr>
          <p:spPr>
            <a:xfrm>
              <a:off x="905256" y="3327400"/>
              <a:ext cx="207835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罗世伟　Luo </a:t>
              </a:r>
              <a:r>
                <a:rPr lang="en-US" alt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ShiWei</a:t>
              </a:r>
              <a:endParaRPr lang="en-US" alt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99" name="TextBox 14"/>
            <p:cNvSpPr txBox="1"/>
            <p:nvPr/>
          </p:nvSpPr>
          <p:spPr>
            <a:xfrm>
              <a:off x="908304" y="3886200"/>
              <a:ext cx="7493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电话 / 微信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400" name="TextBox 15"/>
            <p:cNvSpPr txBox="1"/>
            <p:nvPr/>
          </p:nvSpPr>
          <p:spPr>
            <a:xfrm>
              <a:off x="905256" y="4152900"/>
              <a:ext cx="197485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+86 13</a:t>
              </a:r>
              <a:r>
                <a:rPr lang="en-US" alt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alt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2375</a:t>
              </a:r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alt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7790</a:t>
              </a:r>
              <a:endParaRPr lang="en-US" alt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401" name="TextBox 16"/>
            <p:cNvSpPr txBox="1"/>
            <p:nvPr/>
          </p:nvSpPr>
          <p:spPr>
            <a:xfrm>
              <a:off x="908304" y="4724400"/>
              <a:ext cx="7493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邮箱 / 官网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402" name="TextBox 17"/>
            <p:cNvSpPr txBox="1"/>
            <p:nvPr/>
          </p:nvSpPr>
          <p:spPr>
            <a:xfrm>
              <a:off x="906780" y="5041900"/>
              <a:ext cx="196342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alt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190370356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@qq.com　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4" name="back-address"/>
          <p:cNvGrpSpPr/>
          <p:nvPr/>
        </p:nvGrpSpPr>
        <p:grpSpPr>
          <a:xfrm>
            <a:off x="907542" y="5619750"/>
            <a:ext cx="4629150" cy="480695"/>
            <a:chOff x="907542" y="5619750"/>
            <a:chExt cx="4629150" cy="480695"/>
          </a:xfrm>
        </p:grpSpPr>
        <p:sp>
          <p:nvSpPr>
            <p:cNvPr id="1049403" name="TextBox 19"/>
            <p:cNvSpPr txBox="1"/>
            <p:nvPr/>
          </p:nvSpPr>
          <p:spPr>
            <a:xfrm>
              <a:off x="908304" y="561975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公司地址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404" name="TextBox 20"/>
            <p:cNvSpPr txBox="1"/>
            <p:nvPr/>
          </p:nvSpPr>
          <p:spPr>
            <a:xfrm>
              <a:off x="907542" y="5892800"/>
              <a:ext cx="46291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altLang="en-US" sz="13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东莞市大岭山镇杨屋越秀大厦</a:t>
              </a:r>
              <a:r>
                <a:rPr lang="zh-CN" sz="13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　东莞市永耐环保科技有限公司</a:t>
              </a:r>
              <a:endParaRPr lang="zh-CN" sz="135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42.92,&quot;left&quot;:59.4,&quot;top&quot;:147,&quot;width&quot;:510.6}"/>
</p:tagLst>
</file>

<file path=ppt/tags/tag2.xml><?xml version="1.0" encoding="utf-8"?>
<p:tagLst xmlns:p="http://schemas.openxmlformats.org/presentationml/2006/main">
  <p:tag name="KSO_WM_DIAGRAM_VIRTUALLY_FRAME" val="{&quot;height&quot;:242.92,&quot;left&quot;:59.4,&quot;top&quot;:147,&quot;width&quot;:1546.7}"/>
</p:tagLst>
</file>

<file path=ppt/tags/tag3.xml><?xml version="1.0" encoding="utf-8"?>
<p:tagLst xmlns:p="http://schemas.openxmlformats.org/presentationml/2006/main">
  <p:tag name="KSO_WM_DIAGRAM_VIRTUALLY_FRAME" val="{&quot;height&quot;:242.92,&quot;left&quot;:59.4,&quot;top&quot;:147,&quot;width&quot;:1546.7}"/>
</p:tagLst>
</file>

<file path=ppt/tags/tag4.xml><?xml version="1.0" encoding="utf-8"?>
<p:tagLst xmlns:p="http://schemas.openxmlformats.org/presentationml/2006/main">
  <p:tag name="KSO_WM_DIAGRAM_VIRTUALLY_FRAME" val="{&quot;height&quot;:242.92,&quot;left&quot;:59.4,&quot;top&quot;:147,&quot;width&quot;:1546.7}"/>
</p:tagLst>
</file>

<file path=ppt/tags/tag5.xml><?xml version="1.0" encoding="utf-8"?>
<p:tagLst xmlns:p="http://schemas.openxmlformats.org/presentationml/2006/main">
  <p:tag name="KSO_WM_DIAGRAM_VIRTUALLY_FRAME" val="{&quot;height&quot;:242.92,&quot;left&quot;:59.4,&quot;top&quot;:147,&quot;width&quot;:1546.7}"/>
</p:tagLst>
</file>

<file path=ppt/tags/tag6.xml><?xml version="1.0" encoding="utf-8"?>
<p:tagLst xmlns:p="http://schemas.openxmlformats.org/presentationml/2006/main">
  <p:tag name="KSO_WM_DIAGRAM_VIRTUALLY_FRAME" val="{&quot;height&quot;:242.92,&quot;left&quot;:59.4,&quot;top&quot;:147,&quot;width&quot;:1546.7}"/>
</p:tagLst>
</file>

<file path=ppt/tags/tag7.xml><?xml version="1.0" encoding="utf-8"?>
<p:tagLst xmlns:p="http://schemas.openxmlformats.org/presentationml/2006/main">
  <p:tag name="KSO_WM_DIAGRAM_VIRTUALLY_FRAME" val="{&quot;height&quot;:242.92,&quot;left&quot;:59.4,&quot;top&quot;:147,&quot;width&quot;:1546.7}"/>
</p:tagLst>
</file>

<file path=ppt/tags/tag8.xml><?xml version="1.0" encoding="utf-8"?>
<p:tagLst xmlns:p="http://schemas.openxmlformats.org/presentationml/2006/main">
  <p:tag name="KSO_WM_DIAGRAM_VIRTUALLY_FRAME" val="{&quot;height&quot;:242.92,&quot;left&quot;:59.4,&quot;top&quot;:147,&quot;width&quot;:1546.7}"/>
</p:tagLst>
</file>

<file path=ppt/tags/tag9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10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11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12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13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14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15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16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17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18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19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20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21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22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23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24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25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26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27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4.0200000000001}"/>
</p:tagLst>
</file>

<file path=ppt/tags/tag28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29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30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31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32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33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34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35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36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37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38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39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40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41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42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43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44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45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46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heme/theme1.xml><?xml version="1.0" encoding="utf-8"?>
<a:theme xmlns:a="http://schemas.openxmlformats.org/drawingml/2006/main" name="yongnai_brochure">
  <a:themeElements>
    <a:clrScheme name="yongnai_brochure">
      <a:dk1>
        <a:srgbClr val="1D2226"/>
      </a:dk1>
      <a:lt1>
        <a:srgbClr val="FFFFFF"/>
      </a:lt1>
      <a:dk2>
        <a:srgbClr val="1F497D"/>
      </a:dk2>
      <a:lt2>
        <a:srgbClr val="F4F1EA"/>
      </a:lt2>
      <a:accent1>
        <a:srgbClr val="1F3A44"/>
      </a:accent1>
      <a:accent2>
        <a:srgbClr val="F0A22E"/>
      </a:accent2>
      <a:accent3>
        <a:srgbClr val="2F6FB2"/>
      </a:accent3>
      <a:accent4>
        <a:srgbClr val="1F3A44"/>
      </a:accent4>
      <a:accent5>
        <a:srgbClr val="5C666B"/>
      </a:accent5>
      <a:accent6>
        <a:srgbClr val="D8D2C6"/>
      </a:accent6>
      <a:hlink>
        <a:srgbClr val="F0A22E"/>
      </a:hlink>
      <a:folHlink>
        <a:srgbClr val="2F6FB2"/>
      </a:folHlink>
    </a:clrScheme>
    <a:fontScheme name="yongnai_brochur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ongnai_brochu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yongnai_brochure">
  <a:themeElements>
    <a:clrScheme name="yongnai_brochure">
      <a:dk1>
        <a:srgbClr val="1D2226"/>
      </a:dk1>
      <a:lt1>
        <a:srgbClr val="FFFFFF"/>
      </a:lt1>
      <a:dk2>
        <a:srgbClr val="1F497D"/>
      </a:dk2>
      <a:lt2>
        <a:srgbClr val="F4F1EA"/>
      </a:lt2>
      <a:accent1>
        <a:srgbClr val="1F3A44"/>
      </a:accent1>
      <a:accent2>
        <a:srgbClr val="F0A22E"/>
      </a:accent2>
      <a:accent3>
        <a:srgbClr val="2F6FB2"/>
      </a:accent3>
      <a:accent4>
        <a:srgbClr val="1F3A44"/>
      </a:accent4>
      <a:accent5>
        <a:srgbClr val="5C666B"/>
      </a:accent5>
      <a:accent6>
        <a:srgbClr val="D8D2C6"/>
      </a:accent6>
      <a:hlink>
        <a:srgbClr val="F0A22E"/>
      </a:hlink>
      <a:folHlink>
        <a:srgbClr val="2F6FB2"/>
      </a:folHlink>
    </a:clrScheme>
    <a:fontScheme name="yongnai_brochur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ongnai_brochu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6335</Words>
  <Application>WPS 演示</Application>
  <PresentationFormat>On-screen Show (16:9)</PresentationFormat>
  <Paragraphs>697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Arial Unicode MS</vt:lpstr>
      <vt:lpstr>华文中宋</vt:lpstr>
      <vt:lpstr>Microsoft JhengHei</vt:lpstr>
      <vt:lpstr>Wingdings</vt:lpstr>
      <vt:lpstr>yongnai_brochure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罗世凯</cp:lastModifiedBy>
  <cp:revision>8</cp:revision>
  <dcterms:created xsi:type="dcterms:W3CDTF">2026-10-28T03:25:00Z</dcterms:created>
  <dcterms:modified xsi:type="dcterms:W3CDTF">2026-10-28T08:59:42Z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D0A218E324874DD3AF26796DE741C887_13</vt:lpwstr>
  </property>
</Properties>
</file>